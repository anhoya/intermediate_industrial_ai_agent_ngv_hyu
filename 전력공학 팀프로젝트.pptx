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8" r:id="rId3"/>
    <p:sldId id="287" r:id="rId4"/>
    <p:sldId id="301" r:id="rId5"/>
    <p:sldId id="303" r:id="rId6"/>
    <p:sldId id="306" r:id="rId7"/>
    <p:sldId id="314" r:id="rId8"/>
    <p:sldId id="317" r:id="rId9"/>
    <p:sldId id="316" r:id="rId10"/>
    <p:sldId id="313" r:id="rId11"/>
    <p:sldId id="268" r:id="rId12"/>
    <p:sldId id="260" r:id="rId13"/>
    <p:sldId id="270" r:id="rId14"/>
    <p:sldId id="271" r:id="rId15"/>
    <p:sldId id="273" r:id="rId16"/>
    <p:sldId id="275" r:id="rId17"/>
    <p:sldId id="281" r:id="rId18"/>
    <p:sldId id="285" r:id="rId19"/>
    <p:sldId id="298" r:id="rId20"/>
    <p:sldId id="299" r:id="rId21"/>
    <p:sldId id="304" r:id="rId22"/>
    <p:sldId id="300" r:id="rId23"/>
    <p:sldId id="308" r:id="rId24"/>
    <p:sldId id="259" r:id="rId25"/>
    <p:sldId id="296" r:id="rId26"/>
    <p:sldId id="279" r:id="rId27"/>
    <p:sldId id="278" r:id="rId28"/>
    <p:sldId id="277" r:id="rId29"/>
    <p:sldId id="284" r:id="rId30"/>
    <p:sldId id="288" r:id="rId31"/>
    <p:sldId id="305" r:id="rId32"/>
    <p:sldId id="315" r:id="rId33"/>
    <p:sldId id="293" r:id="rId34"/>
    <p:sldId id="292" r:id="rId35"/>
    <p:sldId id="289" r:id="rId36"/>
    <p:sldId id="294" r:id="rId37"/>
    <p:sldId id="307" r:id="rId38"/>
    <p:sldId id="291" r:id="rId39"/>
    <p:sldId id="265" r:id="rId40"/>
    <p:sldId id="309" r:id="rId41"/>
    <p:sldId id="312" r:id="rId42"/>
    <p:sldId id="311" r:id="rId43"/>
    <p:sldId id="266" r:id="rId4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86"/>
    <a:srgbClr val="F9F9F9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17DD03-15DC-4D72-BC63-376B46CC64E3}" v="5" dt="2025-06-23T04:30:19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77"/>
  </p:normalViewPr>
  <p:slideViewPr>
    <p:cSldViewPr snapToGrid="0">
      <p:cViewPr varScale="1">
        <p:scale>
          <a:sx n="118" d="100"/>
          <a:sy n="118" d="100"/>
        </p:scale>
        <p:origin x="1608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800" b="1" err="1">
                <a:solidFill>
                  <a:srgbClr val="004C86"/>
                </a:solidFill>
                <a:latin typeface="+mn-ea"/>
                <a:ea typeface="+mn-ea"/>
              </a:rPr>
              <a:t>pu</a:t>
            </a:r>
            <a:r>
              <a:rPr lang="en-US" altLang="ko-KR" sz="1800" b="1">
                <a:solidFill>
                  <a:srgbClr val="004C86"/>
                </a:solidFill>
                <a:latin typeface="+mn-ea"/>
                <a:ea typeface="+mn-ea"/>
              </a:rPr>
              <a:t> </a:t>
            </a:r>
            <a:r>
              <a:rPr lang="ko-KR" altLang="en-US" sz="1800" b="1">
                <a:solidFill>
                  <a:srgbClr val="004C86"/>
                </a:solidFill>
                <a:latin typeface="+mn-ea"/>
                <a:ea typeface="+mn-ea"/>
              </a:rPr>
              <a:t>평균값 </a:t>
            </a:r>
            <a:r>
              <a:rPr lang="en-US" altLang="ko-KR" sz="1800" b="1">
                <a:solidFill>
                  <a:srgbClr val="004C86"/>
                </a:solidFill>
                <a:latin typeface="+mn-ea"/>
                <a:ea typeface="+mn-ea"/>
              </a:rPr>
              <a:t>(2M</a:t>
            </a:r>
            <a:r>
              <a:rPr lang="en-US" altLang="ko-KR" sz="1800" b="1" baseline="0">
                <a:solidFill>
                  <a:srgbClr val="004C86"/>
                </a:solidFill>
                <a:latin typeface="+mn-ea"/>
                <a:ea typeface="+mn-ea"/>
              </a:rPr>
              <a:t>var)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 평균값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28</c:v>
                </c:pt>
                <c:pt idx="8">
                  <c:v>29</c:v>
                </c:pt>
                <c:pt idx="9">
                  <c:v>30</c:v>
                </c:pt>
                <c:pt idx="10">
                  <c:v>31</c:v>
                </c:pt>
                <c:pt idx="11">
                  <c:v>32</c:v>
                </c:pt>
                <c:pt idx="12">
                  <c:v>33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1.8978125000000005E-2</c:v>
                </c:pt>
                <c:pt idx="1">
                  <c:v>2.0537500000000011E-2</c:v>
                </c:pt>
                <c:pt idx="2">
                  <c:v>2.131874999999999E-2</c:v>
                </c:pt>
                <c:pt idx="3">
                  <c:v>2.1662499999999994E-2</c:v>
                </c:pt>
                <c:pt idx="4">
                  <c:v>2.1837500000000003E-2</c:v>
                </c:pt>
                <c:pt idx="5">
                  <c:v>2.2143750000000004E-2</c:v>
                </c:pt>
                <c:pt idx="6">
                  <c:v>2.1999999999999999E-2</c:v>
                </c:pt>
                <c:pt idx="7">
                  <c:v>1.1718749999999997E-2</c:v>
                </c:pt>
                <c:pt idx="8">
                  <c:v>1.2915625000000003E-2</c:v>
                </c:pt>
                <c:pt idx="9">
                  <c:v>1.364375E-2</c:v>
                </c:pt>
                <c:pt idx="10">
                  <c:v>1.3940625000000005E-2</c:v>
                </c:pt>
                <c:pt idx="11">
                  <c:v>1.4062500000000002E-2</c:v>
                </c:pt>
                <c:pt idx="12">
                  <c:v>1.4096874999999998E-2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E0-D840-8949-7C441B5CB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7603887"/>
        <c:axId val="1517476879"/>
      </c:barChart>
      <c:catAx>
        <c:axId val="151760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517476879"/>
        <c:crosses val="autoZero"/>
        <c:auto val="1"/>
        <c:lblAlgn val="ctr"/>
        <c:lblOffset val="100"/>
        <c:noMultiLvlLbl val="0"/>
      </c:catAx>
      <c:valAx>
        <c:axId val="151747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517603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800" b="1" err="1">
                <a:solidFill>
                  <a:srgbClr val="004C86"/>
                </a:solidFill>
                <a:latin typeface="+mn-ea"/>
                <a:ea typeface="+mn-ea"/>
              </a:rPr>
              <a:t>pu</a:t>
            </a:r>
            <a:r>
              <a:rPr lang="en-US" altLang="ko-KR" sz="1800" b="1">
                <a:solidFill>
                  <a:srgbClr val="004C86"/>
                </a:solidFill>
                <a:latin typeface="+mn-ea"/>
                <a:ea typeface="+mn-ea"/>
              </a:rPr>
              <a:t> </a:t>
            </a:r>
            <a:r>
              <a:rPr lang="ko-KR" altLang="en-US" sz="1800" b="1">
                <a:solidFill>
                  <a:srgbClr val="004C86"/>
                </a:solidFill>
                <a:latin typeface="+mn-ea"/>
                <a:ea typeface="+mn-ea"/>
              </a:rPr>
              <a:t>평균값 </a:t>
            </a:r>
            <a:r>
              <a:rPr lang="en-US" altLang="ko-KR" sz="1800" b="1">
                <a:solidFill>
                  <a:srgbClr val="004C86"/>
                </a:solidFill>
                <a:latin typeface="+mn-ea"/>
                <a:ea typeface="+mn-ea"/>
              </a:rPr>
              <a:t>(3M</a:t>
            </a:r>
            <a:r>
              <a:rPr lang="en-US" altLang="ko-KR" sz="1800" b="1" baseline="0">
                <a:solidFill>
                  <a:srgbClr val="004C86"/>
                </a:solidFill>
                <a:latin typeface="+mn-ea"/>
                <a:ea typeface="+mn-ea"/>
              </a:rPr>
              <a:t>var)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 평균값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28</c:v>
                </c:pt>
                <c:pt idx="8">
                  <c:v>29</c:v>
                </c:pt>
                <c:pt idx="9">
                  <c:v>30</c:v>
                </c:pt>
                <c:pt idx="10">
                  <c:v>31</c:v>
                </c:pt>
                <c:pt idx="11">
                  <c:v>32</c:v>
                </c:pt>
                <c:pt idx="12">
                  <c:v>33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1.46E-2</c:v>
                </c:pt>
                <c:pt idx="1">
                  <c:v>1.5896875000000001E-2</c:v>
                </c:pt>
                <c:pt idx="2">
                  <c:v>1.6543749999999999E-2</c:v>
                </c:pt>
                <c:pt idx="3">
                  <c:v>1.6843750000000001E-2</c:v>
                </c:pt>
                <c:pt idx="4">
                  <c:v>1.7034375000000004E-2</c:v>
                </c:pt>
                <c:pt idx="5">
                  <c:v>1.7384375000000001E-2</c:v>
                </c:pt>
                <c:pt idx="6">
                  <c:v>1.7328124999999996E-2</c:v>
                </c:pt>
                <c:pt idx="7">
                  <c:v>8.9125000000000003E-3</c:v>
                </c:pt>
                <c:pt idx="8">
                  <c:v>9.8718749999999952E-3</c:v>
                </c:pt>
                <c:pt idx="9">
                  <c:v>1.0196874999999994E-2</c:v>
                </c:pt>
                <c:pt idx="10">
                  <c:v>1.0724999999999991E-2</c:v>
                </c:pt>
                <c:pt idx="11">
                  <c:v>1.0828124999999994E-2</c:v>
                </c:pt>
                <c:pt idx="12">
                  <c:v>1.0878124999999995E-2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E0-D840-8949-7C441B5CB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7603887"/>
        <c:axId val="1517476879"/>
      </c:barChart>
      <c:catAx>
        <c:axId val="151760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517476879"/>
        <c:crosses val="autoZero"/>
        <c:auto val="1"/>
        <c:lblAlgn val="ctr"/>
        <c:lblOffset val="100"/>
        <c:noMultiLvlLbl val="0"/>
      </c:catAx>
      <c:valAx>
        <c:axId val="151747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517603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800" b="1" err="1">
                <a:solidFill>
                  <a:srgbClr val="004C86"/>
                </a:solidFill>
                <a:latin typeface="+mn-ea"/>
                <a:ea typeface="+mn-ea"/>
              </a:rPr>
              <a:t>pu</a:t>
            </a:r>
            <a:r>
              <a:rPr lang="en-US" altLang="ko-KR" sz="1800" b="1">
                <a:solidFill>
                  <a:srgbClr val="004C86"/>
                </a:solidFill>
                <a:latin typeface="+mn-ea"/>
                <a:ea typeface="+mn-ea"/>
              </a:rPr>
              <a:t> </a:t>
            </a:r>
            <a:r>
              <a:rPr lang="ko-KR" altLang="en-US" sz="1800" b="1">
                <a:solidFill>
                  <a:srgbClr val="004C86"/>
                </a:solidFill>
                <a:latin typeface="+mn-ea"/>
                <a:ea typeface="+mn-ea"/>
              </a:rPr>
              <a:t>평균값 </a:t>
            </a:r>
            <a:r>
              <a:rPr lang="en-US" altLang="ko-KR" sz="1800" b="1">
                <a:solidFill>
                  <a:srgbClr val="004C86"/>
                </a:solidFill>
                <a:latin typeface="+mn-ea"/>
                <a:ea typeface="+mn-ea"/>
              </a:rPr>
              <a:t>(4M</a:t>
            </a:r>
            <a:r>
              <a:rPr lang="en-US" altLang="ko-KR" sz="1800" b="1" baseline="0">
                <a:solidFill>
                  <a:srgbClr val="004C86"/>
                </a:solidFill>
                <a:latin typeface="+mn-ea"/>
                <a:ea typeface="+mn-ea"/>
              </a:rPr>
              <a:t>var)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 평균값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28</c:v>
                </c:pt>
                <c:pt idx="8">
                  <c:v>29</c:v>
                </c:pt>
                <c:pt idx="9">
                  <c:v>30</c:v>
                </c:pt>
                <c:pt idx="10">
                  <c:v>31</c:v>
                </c:pt>
                <c:pt idx="11">
                  <c:v>32</c:v>
                </c:pt>
                <c:pt idx="12">
                  <c:v>33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1.8978125000000005E-2</c:v>
                </c:pt>
                <c:pt idx="1">
                  <c:v>2.0537500000000011E-2</c:v>
                </c:pt>
                <c:pt idx="2">
                  <c:v>2.131874999999999E-2</c:v>
                </c:pt>
                <c:pt idx="3">
                  <c:v>2.1662499999999994E-2</c:v>
                </c:pt>
                <c:pt idx="4">
                  <c:v>2.1837500000000003E-2</c:v>
                </c:pt>
                <c:pt idx="5">
                  <c:v>2.2143750000000004E-2</c:v>
                </c:pt>
                <c:pt idx="6">
                  <c:v>2.1999999999999999E-2</c:v>
                </c:pt>
                <c:pt idx="7">
                  <c:v>1.1718749999999997E-2</c:v>
                </c:pt>
                <c:pt idx="8">
                  <c:v>1.2915625000000003E-2</c:v>
                </c:pt>
                <c:pt idx="9">
                  <c:v>1.364375E-2</c:v>
                </c:pt>
                <c:pt idx="10">
                  <c:v>1.3940625000000005E-2</c:v>
                </c:pt>
                <c:pt idx="11">
                  <c:v>1.4062500000000002E-2</c:v>
                </c:pt>
                <c:pt idx="12">
                  <c:v>1.4096874999999998E-2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E0-D840-8949-7C441B5CB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7603887"/>
        <c:axId val="1517476879"/>
      </c:barChart>
      <c:catAx>
        <c:axId val="151760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517476879"/>
        <c:crosses val="autoZero"/>
        <c:auto val="1"/>
        <c:lblAlgn val="ctr"/>
        <c:lblOffset val="100"/>
        <c:noMultiLvlLbl val="0"/>
      </c:catAx>
      <c:valAx>
        <c:axId val="151747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517603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EAB51-9370-4C95-ACC9-9C0C8EC0D6C2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70455-59AF-445F-A4AF-8C89DED7D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6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>
                <a:ea typeface="맑은 고딕"/>
              </a:rPr>
              <a:t>22.9kV 전력계통에 각 모선의 부하 증가로 인해  전압 및 전력품질 저하가 발생</a:t>
            </a:r>
          </a:p>
          <a:p>
            <a:r>
              <a:rPr lang="ko-KR" altLang="en-US">
                <a:ea typeface="맑은 고딕"/>
              </a:rPr>
              <a:t>/</a:t>
            </a:r>
            <a:endParaRPr lang="en-US" altLang="ko-KR">
              <a:ea typeface="맑은 고딕"/>
            </a:endParaRPr>
          </a:p>
          <a:p>
            <a:r>
              <a:rPr lang="ko-KR">
                <a:ea typeface="맑은 고딕"/>
              </a:rPr>
              <a:t>불안정한 계통의 전력조류를 계산하여 취약 모선을 분석</a:t>
            </a:r>
          </a:p>
          <a:p>
            <a:endParaRPr lang="ko-KR" altLang="en-US"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47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최적의 </a:t>
            </a:r>
            <a:r>
              <a:rPr lang="ko-KR" altLang="en-US" err="1"/>
              <a:t>커패시터</a:t>
            </a:r>
            <a:r>
              <a:rPr lang="ko-KR" altLang="en-US"/>
              <a:t> 용량과 위치</a:t>
            </a:r>
            <a:r>
              <a:rPr lang="en-US" altLang="ko-KR"/>
              <a:t>= </a:t>
            </a:r>
            <a:r>
              <a:rPr lang="ko-KR" altLang="en-US"/>
              <a:t>최적해</a:t>
            </a:r>
            <a:endParaRPr lang="en-US" altLang="ko-KR"/>
          </a:p>
          <a:p>
            <a:r>
              <a:rPr lang="ko-KR" altLang="en-US"/>
              <a:t>최적해란 용어에 대해 청중들이 </a:t>
            </a:r>
            <a:r>
              <a:rPr lang="ko-KR" altLang="en-US" err="1"/>
              <a:t>이해할수</a:t>
            </a:r>
            <a:r>
              <a:rPr lang="ko-KR" altLang="en-US"/>
              <a:t> 있도록 </a:t>
            </a:r>
            <a:r>
              <a:rPr lang="ko-KR" altLang="en-US" err="1"/>
              <a:t>해야할듯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66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따라서 한 </a:t>
            </a:r>
            <a:r>
              <a:rPr lang="en-US" altLang="ko-KR"/>
              <a:t>Bus</a:t>
            </a:r>
            <a:r>
              <a:rPr lang="ko-KR" altLang="en-US"/>
              <a:t>에 여러 개의 </a:t>
            </a:r>
            <a:r>
              <a:rPr lang="ko-KR" altLang="en-US" err="1"/>
              <a:t>커패시터를</a:t>
            </a:r>
            <a:r>
              <a:rPr lang="ko-KR" altLang="en-US"/>
              <a:t> 병렬로 연결할 때</a:t>
            </a:r>
            <a:r>
              <a:rPr lang="en-US" altLang="ko-KR"/>
              <a:t>, </a:t>
            </a:r>
            <a:r>
              <a:rPr lang="ko-KR" altLang="en-US"/>
              <a:t>각각의 용량을 최대한 </a:t>
            </a:r>
            <a:r>
              <a:rPr lang="en-US" altLang="ko-KR"/>
              <a:t>1344 </a:t>
            </a:r>
            <a:r>
              <a:rPr lang="en-US" altLang="ko-KR" err="1"/>
              <a:t>kvar</a:t>
            </a:r>
            <a:r>
              <a:rPr lang="ko-KR" altLang="en-US"/>
              <a:t>에 가깝게 분할하여 다는 것이 경제적입니다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233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8CE0-9829-4758-F537-53F7F769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DE80A-903F-1C3A-F303-1C0CFB33B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3CFAAF-68CA-B56B-3149-2B424E46E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커패시터</a:t>
            </a:r>
            <a:r>
              <a:rPr lang="ko-KR" altLang="en-US"/>
              <a:t> 설치비용이 </a:t>
            </a:r>
            <a:r>
              <a:rPr lang="en-US" altLang="ko-KR"/>
              <a:t>749xN</a:t>
            </a:r>
            <a:r>
              <a:rPr lang="ko-KR" altLang="en-US"/>
              <a:t> 보다 작은 해를 찾았을 때</a:t>
            </a:r>
            <a:r>
              <a:rPr lang="en-US" altLang="ko-KR"/>
              <a:t>, 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커패시터를</a:t>
            </a:r>
            <a:r>
              <a:rPr lang="ko-KR" altLang="en-US"/>
              <a:t> 설치하는 경우는 탐색할 필요 </a:t>
            </a:r>
            <a:endParaRPr lang="en-US" altLang="ko-KR"/>
          </a:p>
          <a:p>
            <a:r>
              <a:rPr lang="ko-KR" altLang="en-US"/>
              <a:t>전압안정 기준을 만족하는 하나의 해를 찾았을 때 드는 비용이 </a:t>
            </a:r>
            <a:r>
              <a:rPr lang="en-US" altLang="ko-KR"/>
              <a:t>749*N </a:t>
            </a:r>
            <a:r>
              <a:rPr lang="ko-KR" altLang="en-US"/>
              <a:t>달러 보다 작다면 </a:t>
            </a:r>
            <a:r>
              <a:rPr lang="en-US" altLang="ko-KR"/>
              <a:t>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캐패시터를</a:t>
            </a:r>
            <a:r>
              <a:rPr lang="ko-KR" altLang="en-US"/>
              <a:t> 설치하는 경우는 최적해가 될 수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1A671-7021-C76F-8FC1-D0A6463CC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980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BD3F-3CA8-655F-C46B-69EB7920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0EA2C-69FD-DEA0-1458-EE2EE70AB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CC0292-0407-6E05-8E73-D1FB9B9FB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커패시터</a:t>
            </a:r>
            <a:r>
              <a:rPr lang="ko-KR" altLang="en-US"/>
              <a:t> 설치비용이 </a:t>
            </a:r>
            <a:r>
              <a:rPr lang="en-US" altLang="ko-KR"/>
              <a:t>749xN</a:t>
            </a:r>
            <a:r>
              <a:rPr lang="ko-KR" altLang="en-US"/>
              <a:t> 보다 작은 해를 찾았을 때</a:t>
            </a:r>
            <a:r>
              <a:rPr lang="en-US" altLang="ko-KR"/>
              <a:t>, 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커패시터를</a:t>
            </a:r>
            <a:r>
              <a:rPr lang="ko-KR" altLang="en-US"/>
              <a:t> 설치하는 경우는 탐색할 필요 </a:t>
            </a:r>
            <a:r>
              <a:rPr lang="ko-KR" altLang="en-US" err="1"/>
              <a:t>ㅇ</a:t>
            </a:r>
            <a:endParaRPr lang="en-US" altLang="ko-KR"/>
          </a:p>
          <a:p>
            <a:r>
              <a:rPr lang="ko-KR" altLang="en-US"/>
              <a:t>전압안정 기준을 만족하는 하나의 해를 찾았을 때 드는 비용이 </a:t>
            </a:r>
            <a:r>
              <a:rPr lang="en-US" altLang="ko-KR"/>
              <a:t>749*N </a:t>
            </a:r>
            <a:r>
              <a:rPr lang="ko-KR" altLang="en-US"/>
              <a:t>달러 보다 작다면 </a:t>
            </a:r>
            <a:r>
              <a:rPr lang="en-US" altLang="ko-KR"/>
              <a:t>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캐패시터를</a:t>
            </a:r>
            <a:r>
              <a:rPr lang="ko-KR" altLang="en-US"/>
              <a:t> 설치하는 경우는 최적해가 될 수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AF9F2-8FE0-3E13-7F17-51C080B9B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688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BDA8-3D6E-0E6F-0C0E-DB95B349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9AA5F-7EA7-17F4-7181-E6F56CFB9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DE972-992D-828F-C926-4524C6087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커패시터</a:t>
            </a:r>
            <a:r>
              <a:rPr lang="ko-KR" altLang="en-US"/>
              <a:t> 설치비용이 </a:t>
            </a:r>
            <a:r>
              <a:rPr lang="en-US" altLang="ko-KR"/>
              <a:t>749xN</a:t>
            </a:r>
            <a:r>
              <a:rPr lang="ko-KR" altLang="en-US"/>
              <a:t> 보다 작은 해를 찾았을 때</a:t>
            </a:r>
            <a:r>
              <a:rPr lang="en-US" altLang="ko-KR"/>
              <a:t>, 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커패시터를</a:t>
            </a:r>
            <a:r>
              <a:rPr lang="ko-KR" altLang="en-US"/>
              <a:t> 설치하는 경우는 탐색할 필요 </a:t>
            </a:r>
            <a:r>
              <a:rPr lang="ko-KR" altLang="en-US" err="1"/>
              <a:t>ㅇ</a:t>
            </a:r>
            <a:endParaRPr lang="en-US" altLang="ko-KR"/>
          </a:p>
          <a:p>
            <a:r>
              <a:rPr lang="ko-KR" altLang="en-US"/>
              <a:t>전압안정 기준을 만족하는 하나의 해를 찾았을 때 드는 비용이 </a:t>
            </a:r>
            <a:r>
              <a:rPr lang="en-US" altLang="ko-KR"/>
              <a:t>749*N </a:t>
            </a:r>
            <a:r>
              <a:rPr lang="ko-KR" altLang="en-US"/>
              <a:t>달러 보다 작다면 </a:t>
            </a:r>
            <a:r>
              <a:rPr lang="en-US" altLang="ko-KR"/>
              <a:t>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캐패시터를</a:t>
            </a:r>
            <a:r>
              <a:rPr lang="ko-KR" altLang="en-US"/>
              <a:t> 설치하는 경우는 최적해가 될 수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83AC9-0E9F-4679-749F-D86BE388D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998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9EF31-A016-1EAA-5DA5-10DB2F89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DF84E3-22FD-C28B-CF39-B78DFDCA2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27004F-E831-8377-D942-5EE29D0C3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커패시터</a:t>
            </a:r>
            <a:r>
              <a:rPr lang="ko-KR" altLang="en-US"/>
              <a:t> 설치비용이 </a:t>
            </a:r>
            <a:r>
              <a:rPr lang="en-US" altLang="ko-KR"/>
              <a:t>749xN</a:t>
            </a:r>
            <a:r>
              <a:rPr lang="ko-KR" altLang="en-US"/>
              <a:t> 보다 작은 해를 찾았을 때</a:t>
            </a:r>
            <a:r>
              <a:rPr lang="en-US" altLang="ko-KR"/>
              <a:t>, 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커패시터를</a:t>
            </a:r>
            <a:r>
              <a:rPr lang="ko-KR" altLang="en-US"/>
              <a:t> 설치하는 경우는 탐색할 필요 </a:t>
            </a:r>
            <a:r>
              <a:rPr lang="ko-KR" altLang="en-US" err="1"/>
              <a:t>ㅇ</a:t>
            </a:r>
            <a:endParaRPr lang="en-US" altLang="ko-KR"/>
          </a:p>
          <a:p>
            <a:r>
              <a:rPr lang="ko-KR" altLang="en-US"/>
              <a:t>전압안정 기준을 만족하는 하나의 해를 찾았을 때 드는 비용이 </a:t>
            </a:r>
            <a:r>
              <a:rPr lang="en-US" altLang="ko-KR"/>
              <a:t>749*N </a:t>
            </a:r>
            <a:r>
              <a:rPr lang="ko-KR" altLang="en-US"/>
              <a:t>달러 보다 작다면 </a:t>
            </a:r>
            <a:r>
              <a:rPr lang="en-US" altLang="ko-KR"/>
              <a:t>N</a:t>
            </a:r>
            <a:r>
              <a:rPr lang="ko-KR" altLang="en-US"/>
              <a:t>개 이상의 </a:t>
            </a:r>
            <a:r>
              <a:rPr lang="en-US" altLang="ko-KR"/>
              <a:t>bus</a:t>
            </a:r>
            <a:r>
              <a:rPr lang="ko-KR" altLang="en-US"/>
              <a:t>에 </a:t>
            </a:r>
            <a:r>
              <a:rPr lang="ko-KR" altLang="en-US" err="1"/>
              <a:t>캐패시터를</a:t>
            </a:r>
            <a:r>
              <a:rPr lang="ko-KR" altLang="en-US"/>
              <a:t> 설치하는 경우는 최적해가 될 수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B77A5E-6914-7401-E7CD-82FF8F1B1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88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최적화 알고리즘에서 가장 중요한 비용함수에 대해</a:t>
            </a:r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22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3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784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118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52F6-69FF-0DAD-52EA-26EEE248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FC41E6-FD5D-0900-A5DB-5D6A43C9F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AEDD3F-9F1B-8A98-3F19-42647CE61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63380-87B0-0EF9-DDE5-7B7DF48FA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295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98E5-786E-A3C2-E1CD-0F071FD3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271ADF-12A8-B078-5774-C21C0FBE5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A035C-FA33-6BE6-4A9A-EB4FE0F14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DE53A-470A-7608-DFFC-2467A720F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184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6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261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E912-2321-9F3E-4E0F-93B33DE8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A16D6-3894-AFFC-6FC0-4FEB7FEBB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5EF42A-51DA-50ED-F07D-A169661FA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C71DB-299E-A54D-7224-4D51ABF91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0455-59AF-445F-A4AF-8C89DED7DCD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93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99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17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29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77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62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94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37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1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55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25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28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6D8B3-29BE-41C9-8E49-D64F47D440D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3FF7C-8566-45B7-B9A1-9079E74E4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66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000" y="2420888"/>
            <a:ext cx="8641010" cy="578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ko-KR" altLang="en-US" sz="4800" b="1" spc="-10" dirty="0">
                <a:solidFill>
                  <a:srgbClr val="004C86"/>
                </a:solidFill>
                <a:latin typeface="+mj-lt"/>
                <a:ea typeface="Arita-dotum4.0(OTF)-Bold" panose="02020603020101020101" pitchFamily="18" charset="-127"/>
              </a:rPr>
              <a:t>중급</a:t>
            </a:r>
            <a:r>
              <a:rPr lang="en-US" altLang="ko-KR" sz="4800" b="1" spc="-10" dirty="0">
                <a:solidFill>
                  <a:srgbClr val="004C86"/>
                </a:solidFill>
                <a:latin typeface="+mj-lt"/>
                <a:ea typeface="Arita-dotum4.0(OTF)-Bold" panose="02020603020101020101" pitchFamily="18" charset="-127"/>
              </a:rPr>
              <a:t> </a:t>
            </a:r>
            <a:r>
              <a:rPr lang="ko-KR" altLang="en-US" sz="4800" b="1" spc="-10" dirty="0">
                <a:solidFill>
                  <a:srgbClr val="004C86"/>
                </a:solidFill>
                <a:latin typeface="+mj-lt"/>
                <a:ea typeface="Arita-dotum4.0(OTF)-Bold" panose="02020603020101020101" pitchFamily="18" charset="-127"/>
              </a:rPr>
              <a:t>산업</a:t>
            </a:r>
            <a:r>
              <a:rPr lang="en-US" altLang="ko-KR" sz="4800" b="1" spc="-10" dirty="0">
                <a:solidFill>
                  <a:srgbClr val="004C86"/>
                </a:solidFill>
                <a:latin typeface="+mj-lt"/>
                <a:ea typeface="Arita-dotum4.0(OTF)-Bold" panose="02020603020101020101" pitchFamily="18" charset="-127"/>
              </a:rPr>
              <a:t>AI </a:t>
            </a:r>
            <a:r>
              <a:rPr lang="ko-KR" altLang="en-US" sz="4800" b="1" spc="-10" dirty="0">
                <a:solidFill>
                  <a:srgbClr val="004C86"/>
                </a:solidFill>
                <a:latin typeface="+mj-lt"/>
                <a:ea typeface="Arita-dotum4.0(OTF)-Bold" panose="02020603020101020101" pitchFamily="18" charset="-127"/>
              </a:rPr>
              <a:t>프로젝트 </a:t>
            </a:r>
            <a:r>
              <a:rPr lang="en-US" altLang="ko-KR" sz="4800" b="1" spc="-10" dirty="0">
                <a:solidFill>
                  <a:srgbClr val="004C86"/>
                </a:solidFill>
                <a:latin typeface="+mj-lt"/>
                <a:ea typeface="Arita-dotum4.0(OTF)-Bold" panose="02020603020101020101" pitchFamily="18" charset="-127"/>
              </a:rPr>
              <a:t>(AI agent)</a:t>
            </a:r>
            <a:endParaRPr lang="en-US" altLang="ko-KR" sz="23900" b="1" spc="-10" dirty="0">
              <a:solidFill>
                <a:srgbClr val="004C86"/>
              </a:solidFill>
              <a:latin typeface="+mj-lt"/>
              <a:ea typeface="Arita-dotum4.0(OTF)-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68ED8-5667-FC99-6090-89D4862347C2}"/>
              </a:ext>
            </a:extLst>
          </p:cNvPr>
          <p:cNvSpPr txBox="1"/>
          <p:nvPr/>
        </p:nvSpPr>
        <p:spPr>
          <a:xfrm>
            <a:off x="268990" y="6093298"/>
            <a:ext cx="81914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spc="20" dirty="0">
                <a:solidFill>
                  <a:srgbClr val="004C86"/>
                </a:solidFill>
                <a:latin typeface="+mj-ea"/>
                <a:ea typeface="+mj-ea"/>
              </a:rPr>
              <a:t>TEAM</a:t>
            </a:r>
            <a:r>
              <a:rPr lang="ko-KR" altLang="en-US" sz="1300" b="1" spc="20" dirty="0">
                <a:solidFill>
                  <a:srgbClr val="004C86"/>
                </a:solidFill>
                <a:latin typeface="+mj-ea"/>
                <a:ea typeface="+mj-ea"/>
              </a:rPr>
              <a:t> 대왕개미</a:t>
            </a:r>
            <a:endParaRPr lang="en-US" altLang="ko-KR" sz="1300" b="1" spc="20" dirty="0">
              <a:solidFill>
                <a:srgbClr val="004C86"/>
              </a:solidFill>
              <a:latin typeface="+mj-ea"/>
              <a:ea typeface="+mj-ea"/>
            </a:endParaRPr>
          </a:p>
          <a:p>
            <a:r>
              <a:rPr lang="ko-KR" altLang="en-US" sz="1300" spc="20" dirty="0">
                <a:solidFill>
                  <a:srgbClr val="004C86"/>
                </a:solidFill>
                <a:latin typeface="+mj-ea"/>
                <a:ea typeface="+mj-ea"/>
              </a:rPr>
              <a:t>에너지공학과 김 </a:t>
            </a:r>
            <a:r>
              <a:rPr lang="en-US" altLang="ko-KR" sz="1300" spc="20" dirty="0">
                <a:solidFill>
                  <a:srgbClr val="004C86"/>
                </a:solidFill>
                <a:latin typeface="+mj-ea"/>
                <a:ea typeface="+mj-ea"/>
              </a:rPr>
              <a:t>/</a:t>
            </a:r>
            <a:r>
              <a:rPr lang="ko-KR" altLang="en-US" sz="1300" spc="20" dirty="0">
                <a:solidFill>
                  <a:srgbClr val="004C86"/>
                </a:solidFill>
                <a:latin typeface="+mj-ea"/>
                <a:ea typeface="+mj-ea"/>
              </a:rPr>
              <a:t> 전기공학전공 안상호</a:t>
            </a:r>
          </a:p>
        </p:txBody>
      </p:sp>
    </p:spTree>
    <p:extLst>
      <p:ext uri="{BB962C8B-B14F-4D97-AF65-F5344CB8AC3E}">
        <p14:creationId xmlns:p14="http://schemas.microsoft.com/office/powerpoint/2010/main" val="209060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1"/>
    </mc:Choice>
    <mc:Fallback xmlns="">
      <p:transition spd="slow" advTm="35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61600" y="476674"/>
            <a:ext cx="2699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프로젝트 개요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42B20D2-F53D-3A05-1FC9-CDD76EF2B13C}"/>
              </a:ext>
            </a:extLst>
          </p:cNvPr>
          <p:cNvSpPr/>
          <p:nvPr/>
        </p:nvSpPr>
        <p:spPr>
          <a:xfrm>
            <a:off x="466342" y="1289157"/>
            <a:ext cx="8209132" cy="1952932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본 프로젝트는 </a:t>
            </a:r>
            <a:r>
              <a:rPr lang="en-US" altLang="ko-KR">
                <a:solidFill>
                  <a:schemeClr val="bg1"/>
                </a:solidFill>
                <a:ea typeface="+mn-lt"/>
                <a:cs typeface="+mn-lt"/>
              </a:rPr>
              <a:t>22.9kV</a:t>
            </a:r>
            <a:r>
              <a:rPr lang="ko-KR" altLang="en-US">
                <a:solidFill>
                  <a:schemeClr val="bg1"/>
                </a:solidFill>
                <a:ea typeface="+mn-lt"/>
                <a:cs typeface="+mn-lt"/>
              </a:rPr>
              <a:t>급</a:t>
            </a:r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ko-KR" b="1">
                <a:solidFill>
                  <a:schemeClr val="bg1"/>
                </a:solidFill>
                <a:ea typeface="+mn-lt"/>
                <a:cs typeface="+mn-lt"/>
              </a:rPr>
              <a:t>33모선 전력계통</a:t>
            </a:r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에서 부하 증가로 </a:t>
            </a:r>
            <a:r>
              <a:rPr lang="ko-KR" altLang="en-US">
                <a:solidFill>
                  <a:schemeClr val="bg1"/>
                </a:solidFill>
                <a:ea typeface="+mn-lt"/>
                <a:cs typeface="+mn-lt"/>
              </a:rPr>
              <a:t>인한 </a:t>
            </a:r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전압 강하 및 전력 품질 저하 문제를 </a:t>
            </a:r>
            <a:r>
              <a:rPr lang="ko-KR" altLang="en-US">
                <a:solidFill>
                  <a:schemeClr val="bg1"/>
                </a:solidFill>
                <a:ea typeface="+mn-lt"/>
                <a:cs typeface="+mn-lt"/>
              </a:rPr>
              <a:t>해결하고</a:t>
            </a:r>
            <a:r>
              <a:rPr lang="en-US" altLang="ko-KR">
                <a:solidFill>
                  <a:schemeClr val="bg1"/>
                </a:solidFill>
                <a:ea typeface="+mn-lt"/>
                <a:cs typeface="+mn-lt"/>
              </a:rPr>
              <a:t>,</a:t>
            </a:r>
            <a:r>
              <a:rPr lang="ko-KR" altLang="en-US">
                <a:solidFill>
                  <a:schemeClr val="bg1"/>
                </a:solidFill>
                <a:ea typeface="+mn-lt"/>
                <a:cs typeface="+mn-lt"/>
              </a:rPr>
              <a:t> 설치 비용을 최소화하면서 </a:t>
            </a:r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분로 </a:t>
            </a:r>
            <a:r>
              <a:rPr lang="ko-KR" err="1">
                <a:solidFill>
                  <a:schemeClr val="bg1"/>
                </a:solidFill>
                <a:ea typeface="+mn-lt"/>
                <a:cs typeface="+mn-lt"/>
              </a:rPr>
              <a:t>커패시터의</a:t>
            </a:r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ko-KR" altLang="en-US" b="1">
                <a:solidFill>
                  <a:schemeClr val="bg1"/>
                </a:solidFill>
                <a:ea typeface="+mn-lt"/>
                <a:cs typeface="+mn-lt"/>
              </a:rPr>
              <a:t>용량과 </a:t>
            </a:r>
            <a:r>
              <a:rPr lang="ko-KR" b="1">
                <a:solidFill>
                  <a:schemeClr val="bg1"/>
                </a:solidFill>
                <a:ea typeface="+mn-lt"/>
                <a:cs typeface="+mn-lt"/>
              </a:rPr>
              <a:t>설치 </a:t>
            </a:r>
            <a:r>
              <a:rPr lang="ko-KR" altLang="en-US" b="1">
                <a:solidFill>
                  <a:schemeClr val="bg1"/>
                </a:solidFill>
                <a:ea typeface="+mn-lt"/>
                <a:cs typeface="+mn-lt"/>
              </a:rPr>
              <a:t>위치를 최적화하는 </a:t>
            </a:r>
            <a:r>
              <a:rPr lang="ko-KR" b="1">
                <a:solidFill>
                  <a:schemeClr val="bg1"/>
                </a:solidFill>
                <a:ea typeface="+mn-lt"/>
                <a:cs typeface="+mn-lt"/>
              </a:rPr>
              <a:t>방안을 </a:t>
            </a:r>
            <a:r>
              <a:rPr lang="ko-KR">
                <a:solidFill>
                  <a:schemeClr val="bg1"/>
                </a:solidFill>
                <a:ea typeface="+mn-lt"/>
                <a:cs typeface="+mn-lt"/>
              </a:rPr>
              <a:t>탐색하는 것을 목표로 한다.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42CB9F2-B74A-F7E2-D073-A70D025F010F}"/>
              </a:ext>
            </a:extLst>
          </p:cNvPr>
          <p:cNvSpPr/>
          <p:nvPr/>
        </p:nvSpPr>
        <p:spPr>
          <a:xfrm>
            <a:off x="588379" y="1104884"/>
            <a:ext cx="2329405" cy="535329"/>
          </a:xfrm>
          <a:prstGeom prst="roundRect">
            <a:avLst/>
          </a:prstGeom>
          <a:ln>
            <a:solidFill>
              <a:srgbClr val="004C8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200" b="1">
                <a:solidFill>
                  <a:srgbClr val="004C86"/>
                </a:solidFill>
                <a:ea typeface="맑은 고딕"/>
              </a:rPr>
              <a:t>WHY?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61E8B45-B343-9D84-A448-81D5673A5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2" y="3426362"/>
            <a:ext cx="5052331" cy="277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10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"/>
    </mc:Choice>
    <mc:Fallback xmlns="">
      <p:transition spd="slow" advTm="7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45FD1-D900-BC54-662C-3C8D2BE3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C79D5C-5D4E-7E49-5DA7-29BE5CD08260}"/>
              </a:ext>
            </a:extLst>
          </p:cNvPr>
          <p:cNvSpPr txBox="1"/>
          <p:nvPr/>
        </p:nvSpPr>
        <p:spPr>
          <a:xfrm>
            <a:off x="561600" y="476674"/>
            <a:ext cx="2699840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  <a:ea typeface="맑은 고딕"/>
              </a:rPr>
              <a:t>프로젝트 개요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A3D5C07-082E-6C2B-B345-FA64733674DF}"/>
              </a:ext>
            </a:extLst>
          </p:cNvPr>
          <p:cNvSpPr/>
          <p:nvPr/>
        </p:nvSpPr>
        <p:spPr>
          <a:xfrm>
            <a:off x="1011025" y="1377933"/>
            <a:ext cx="7133524" cy="3796915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altLang="ko-KR" b="1">
              <a:solidFill>
                <a:schemeClr val="tx2"/>
              </a:solidFill>
              <a:latin typeface="Malgun Gothic"/>
              <a:ea typeface="Malgun Gothic"/>
            </a:endParaRPr>
          </a:p>
          <a:p>
            <a:pPr algn="ctr"/>
            <a:r>
              <a:rPr lang="en-US" altLang="ko-KR" b="1">
                <a:solidFill>
                  <a:schemeClr val="tx2"/>
                </a:solidFill>
                <a:latin typeface="Malgun Gothic"/>
                <a:ea typeface="Malgun Gothic"/>
              </a:rPr>
              <a:t>• 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특정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부하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위치에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설치된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분로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커패시터의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용량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변화가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ko-KR" alt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전체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시스템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전압에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미치는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영향을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정량적으로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분석하는</a:t>
            </a:r>
            <a:r>
              <a:rPr lang="en-US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endParaRPr lang="ko-KR" altLang="en-US">
              <a:solidFill>
                <a:schemeClr val="tx2"/>
              </a:solidFill>
              <a:latin typeface="Malgun Gothic"/>
              <a:ea typeface="Malgun Gothic"/>
              <a:cs typeface="+mn-lt"/>
            </a:endParaRPr>
          </a:p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전압</a:t>
            </a:r>
            <a:r>
              <a:rPr lang="en-US" altLang="ko-KR" b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민감도</a:t>
            </a:r>
            <a:r>
              <a:rPr lang="en-US" altLang="ko-KR" b="1">
                <a:solidFill>
                  <a:schemeClr val="tx2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ko-KR" altLang="en-US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분석을 수행</a:t>
            </a:r>
            <a:endParaRPr lang="ko-KR" altLang="en-US">
              <a:solidFill>
                <a:schemeClr val="tx2"/>
              </a:solidFill>
              <a:latin typeface="Malgun Gothic"/>
              <a:ea typeface="Malgun Gothic"/>
            </a:endParaRPr>
          </a:p>
          <a:p>
            <a:pPr algn="ctr"/>
            <a:endParaRPr lang="en-US" altLang="ko-KR" b="1">
              <a:solidFill>
                <a:schemeClr val="tx2"/>
              </a:solidFill>
              <a:latin typeface="Malgun Gothic"/>
              <a:ea typeface="Malgun Gothic"/>
            </a:endParaRPr>
          </a:p>
          <a:p>
            <a:pPr algn="ctr"/>
            <a:endParaRPr lang="ko-KR" altLang="en-US" b="1">
              <a:solidFill>
                <a:schemeClr val="tx2"/>
              </a:solidFill>
              <a:latin typeface="Malgun Gothic"/>
              <a:ea typeface="Malgun Gothic"/>
            </a:endParaRPr>
          </a:p>
          <a:p>
            <a:pPr algn="ctr"/>
            <a:endParaRPr lang="ko-KR" altLang="en-US" b="1">
              <a:solidFill>
                <a:schemeClr val="tx2"/>
              </a:solidFill>
              <a:latin typeface="Malgun Gothic"/>
              <a:ea typeface="Malgun Gothic"/>
            </a:endParaRPr>
          </a:p>
          <a:p>
            <a:pPr algn="ctr"/>
            <a:r>
              <a:rPr lang="en-US" altLang="ko-KR" b="1">
                <a:solidFill>
                  <a:schemeClr val="tx2"/>
                </a:solidFill>
                <a:ea typeface="+mn-lt"/>
              </a:rPr>
              <a:t>•</a:t>
            </a:r>
            <a:r>
              <a:rPr lang="en-US" altLang="ko-KR" b="1">
                <a:solidFill>
                  <a:schemeClr val="tx2"/>
                </a:solidFill>
                <a:latin typeface="맑은 고딕"/>
                <a:ea typeface="맑은 고딕"/>
              </a:rPr>
              <a:t> </a:t>
            </a:r>
            <a:r>
              <a:rPr lang="ko-KR" b="1">
                <a:solidFill>
                  <a:schemeClr val="tx2"/>
                </a:solidFill>
                <a:latin typeface="Malgun Gothic"/>
                <a:ea typeface="Malgun Gothic"/>
              </a:rPr>
              <a:t>PYTHON / </a:t>
            </a:r>
            <a:r>
              <a:rPr lang="ko-KR" b="1" err="1">
                <a:solidFill>
                  <a:schemeClr val="tx2"/>
                </a:solidFill>
                <a:latin typeface="Malgun Gothic"/>
                <a:ea typeface="Malgun Gothic"/>
              </a:rPr>
              <a:t>MATLAB</a:t>
            </a:r>
            <a:r>
              <a:rPr lang="ko-KR" err="1">
                <a:solidFill>
                  <a:schemeClr val="tx2"/>
                </a:solidFill>
                <a:latin typeface="Malgun Gothic"/>
                <a:ea typeface="Malgun Gothic"/>
              </a:rPr>
              <a:t>에서</a:t>
            </a:r>
            <a:r>
              <a:rPr lang="ko-KR">
                <a:solidFill>
                  <a:schemeClr val="tx2"/>
                </a:solidFill>
                <a:latin typeface="Malgun Gothic"/>
                <a:ea typeface="Malgun Gothic"/>
              </a:rPr>
              <a:t> 각각 나오는 </a:t>
            </a:r>
            <a:r>
              <a:rPr lang="ko-KR" err="1">
                <a:solidFill>
                  <a:schemeClr val="tx2"/>
                </a:solidFill>
                <a:latin typeface="Malgun Gothic"/>
                <a:ea typeface="Malgun Gothic"/>
              </a:rPr>
              <a:t>최적값에</a:t>
            </a:r>
            <a:r>
              <a:rPr lang="ko-KR">
                <a:solidFill>
                  <a:schemeClr val="tx2"/>
                </a:solidFill>
                <a:latin typeface="Malgun Gothic"/>
                <a:ea typeface="Malgun Gothic"/>
              </a:rPr>
              <a:t> 대한 분로 </a:t>
            </a:r>
            <a:r>
              <a:rPr lang="ko-KR" err="1">
                <a:solidFill>
                  <a:schemeClr val="tx2"/>
                </a:solidFill>
                <a:latin typeface="Malgun Gothic"/>
                <a:ea typeface="Malgun Gothic"/>
              </a:rPr>
              <a:t>커패시터의</a:t>
            </a:r>
            <a:r>
              <a:rPr lang="ko-KR">
                <a:solidFill>
                  <a:schemeClr val="tx2"/>
                </a:solidFill>
                <a:latin typeface="Malgun Gothic"/>
                <a:ea typeface="Malgun Gothic"/>
              </a:rPr>
              <a:t> 용량 / 위치를 통합하여 </a:t>
            </a:r>
            <a:r>
              <a:rPr lang="ko-KR" b="1" err="1">
                <a:solidFill>
                  <a:schemeClr val="tx2"/>
                </a:solidFill>
                <a:latin typeface="Malgun Gothic"/>
                <a:ea typeface="Malgun Gothic"/>
              </a:rPr>
              <a:t>SIMULINK</a:t>
            </a:r>
            <a:r>
              <a:rPr lang="ko-KR" err="1">
                <a:solidFill>
                  <a:schemeClr val="tx2"/>
                </a:solidFill>
                <a:latin typeface="Malgun Gothic"/>
                <a:ea typeface="Malgun Gothic"/>
              </a:rPr>
              <a:t>와</a:t>
            </a:r>
            <a:r>
              <a:rPr lang="ko-KR">
                <a:solidFill>
                  <a:schemeClr val="tx2"/>
                </a:solidFill>
                <a:latin typeface="Malgun Gothic"/>
                <a:ea typeface="Malgun Gothic"/>
              </a:rPr>
              <a:t> 연동되는 </a:t>
            </a:r>
            <a:r>
              <a:rPr lang="ko-KR" err="1">
                <a:solidFill>
                  <a:schemeClr val="tx2"/>
                </a:solidFill>
                <a:latin typeface="Malgun Gothic"/>
                <a:ea typeface="Malgun Gothic"/>
              </a:rPr>
              <a:t>MATLAB으로</a:t>
            </a:r>
            <a:r>
              <a:rPr lang="ko-KR">
                <a:solidFill>
                  <a:schemeClr val="tx2"/>
                </a:solidFill>
                <a:latin typeface="Malgun Gothic"/>
                <a:ea typeface="Malgun Gothic"/>
              </a:rPr>
              <a:t> 최종 실행 </a:t>
            </a:r>
            <a:endParaRPr lang="en-US" altLang="ko-KR">
              <a:solidFill>
                <a:schemeClr val="tx2"/>
              </a:solidFill>
              <a:latin typeface="Malgun Gothic"/>
              <a:ea typeface="맑은 고딕"/>
            </a:endParaRPr>
          </a:p>
          <a:p>
            <a:pPr algn="ctr"/>
            <a:endParaRPr lang="ko-KR" b="1">
              <a:solidFill>
                <a:schemeClr val="tx2"/>
              </a:solidFill>
              <a:latin typeface="Malgun Gothic"/>
              <a:ea typeface="Malgun Gothic"/>
            </a:endParaRPr>
          </a:p>
          <a:p>
            <a:pPr algn="ctr"/>
            <a:endParaRPr lang="ko-KR" altLang="en-US" b="1">
              <a:solidFill>
                <a:schemeClr val="tx2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5866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"/>
    </mc:Choice>
    <mc:Fallback xmlns="">
      <p:transition spd="slow" advTm="3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4DD99-AC5D-2D22-A735-79D534B4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F8A96A-9283-D7F7-EF01-65153F8F29B0}"/>
              </a:ext>
            </a:extLst>
          </p:cNvPr>
          <p:cNvSpPr txBox="1"/>
          <p:nvPr/>
        </p:nvSpPr>
        <p:spPr>
          <a:xfrm>
            <a:off x="611560" y="2001614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spc="-50" dirty="0">
                <a:solidFill>
                  <a:schemeClr val="bg1"/>
                </a:solidFill>
              </a:rPr>
              <a:t>Lang Chain </a:t>
            </a:r>
            <a:r>
              <a:rPr lang="ko-KR" altLang="en-US" sz="5400" b="1" spc="-50">
                <a:solidFill>
                  <a:schemeClr val="bg1"/>
                </a:solidFill>
              </a:rPr>
              <a:t>소개</a:t>
            </a:r>
            <a:endParaRPr lang="ko-KR" altLang="en-US" sz="5400" b="1" spc="-5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8E896-1212-DBD3-5E50-BF5C94C76F07}"/>
              </a:ext>
            </a:extLst>
          </p:cNvPr>
          <p:cNvSpPr txBox="1"/>
          <p:nvPr/>
        </p:nvSpPr>
        <p:spPr>
          <a:xfrm>
            <a:off x="144924" y="2924944"/>
            <a:ext cx="7667436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4000"/>
              </a:lnSpc>
            </a:pPr>
            <a:r>
              <a:rPr lang="ko-Kore-KR" altLang="en-US" sz="2100" b="1" spc="-120">
                <a:solidFill>
                  <a:schemeClr val="bg1"/>
                </a:solidFill>
                <a:latin typeface="+mn-ea"/>
              </a:rPr>
              <a:t>사전고찰</a:t>
            </a:r>
            <a:endParaRPr lang="en-US" altLang="ko-KR" sz="2100" b="1" spc="-12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309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"/>
    </mc:Choice>
    <mc:Fallback xmlns="">
      <p:transition spd="slow" advTm="29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7A030-D42A-790E-4428-827256BC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AFA5BB-BB50-1D28-D843-D69B5E26864D}"/>
              </a:ext>
            </a:extLst>
          </p:cNvPr>
          <p:cNvSpPr txBox="1"/>
          <p:nvPr/>
        </p:nvSpPr>
        <p:spPr>
          <a:xfrm>
            <a:off x="561599" y="476674"/>
            <a:ext cx="8148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큰 </a:t>
            </a:r>
            <a:r>
              <a:rPr lang="ko-KR" altLang="en-US" sz="2600" b="1" spc="-80" err="1">
                <a:solidFill>
                  <a:srgbClr val="004C86"/>
                </a:solidFill>
              </a:rPr>
              <a:t>커패시터</a:t>
            </a:r>
            <a:r>
              <a:rPr lang="ko-KR" altLang="en-US" sz="2600" b="1" spc="-80">
                <a:solidFill>
                  <a:srgbClr val="004C86"/>
                </a:solidFill>
              </a:rPr>
              <a:t> 용량은 균등분할해야 저렴하다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0DD108FA-B178-1F09-8154-2F331492836B}"/>
                  </a:ext>
                </a:extLst>
              </p:cNvPr>
              <p:cNvSpPr/>
              <p:nvPr/>
            </p:nvSpPr>
            <p:spPr>
              <a:xfrm>
                <a:off x="516038" y="1694728"/>
                <a:ext cx="7791689" cy="1734272"/>
              </a:xfrm>
              <a:prstGeom prst="roundRect">
                <a:avLst/>
              </a:prstGeom>
              <a:solidFill>
                <a:srgbClr val="004C86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bg1"/>
                    </a:solidFill>
                    <a:latin typeface="Malgun Gothic"/>
                    <a:ea typeface="Malgun Gothic"/>
                  </a:rPr>
                  <a:t>C(D)=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algun Gothic"/>
                      </a:rPr>
                      <m:t>0.000375</m:t>
                    </m:r>
                    <m:sSup>
                      <m:sSup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𝐷</m:t>
                        </m:r>
                      </m:e>
                      <m:sup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algun Gothic"/>
                      </a:rPr>
                      <m:t>−0.304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algun Gothic"/>
                      </a:rPr>
                      <m:t>𝐷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algun Gothic"/>
                      </a:rPr>
                      <m:t>+678</m:t>
                    </m:r>
                  </m:oMath>
                </a14:m>
                <a:endParaRPr lang="ko-KR">
                  <a:solidFill>
                    <a:schemeClr val="bg1"/>
                  </a:solidFill>
                  <a:latin typeface="Malgun Gothic"/>
                  <a:ea typeface="Malgun Gothic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𝑑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맑은 고딕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맑은 고딕"/>
                              </a:rPr>
                              <m:t>𝐶</m:t>
                            </m:r>
                          </m:num>
                          <m:den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맑은 고딕"/>
                              </a:rPr>
                              <m:t>𝐷</m:t>
                            </m:r>
                          </m:den>
                        </m:f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)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𝑑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𝐷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맑은 고딕"/>
                      </a:rPr>
                      <m:t>=0.000375−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678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맑은 고딕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맑은 고딕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맑은 고딕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>
                    <a:solidFill>
                      <a:schemeClr val="bg1"/>
                    </a:solidFill>
                    <a:ea typeface="맑은 고딕"/>
                  </a:rPr>
                  <a:t>=0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𝐷</m:t>
                        </m:r>
                      </m:e>
                      <m:sup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맑은 고딕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맑은 고딕"/>
                      </a:rPr>
                      <m:t>=180800</m:t>
                    </m:r>
                  </m:oMath>
                </a14:m>
                <a:r>
                  <a:rPr lang="ko-KR" altLang="en-US">
                    <a:solidFill>
                      <a:schemeClr val="bg1"/>
                    </a:solidFill>
                    <a:ea typeface="맑은 고딕"/>
                  </a:rPr>
                  <a:t> </a:t>
                </a:r>
                <a:r>
                  <a:rPr lang="en-US" altLang="ko-KR">
                    <a:solidFill>
                      <a:schemeClr val="bg1"/>
                    </a:solidFill>
                    <a:ea typeface="맑은 고딕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맑은 고딕"/>
                      </a:rPr>
                      <m:t>𝐷</m:t>
                    </m:r>
                    <m:r>
                      <a:rPr lang="en-US" altLang="ko-K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1344(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𝑘𝑉𝐴𝑅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>
                  <a:solidFill>
                    <a:schemeClr val="bg1"/>
                  </a:solidFill>
                  <a:ea typeface="맑은 고딕"/>
                </a:endParaRPr>
              </a:p>
              <a:p>
                <a:pPr algn="ctr"/>
                <a:r>
                  <a:rPr lang="en-US" altLang="ko-KR">
                    <a:solidFill>
                      <a:schemeClr val="bg1"/>
                    </a:solidFill>
                    <a:ea typeface="맑은 고딕"/>
                  </a:rPr>
                  <a:t>1344kVAR</a:t>
                </a:r>
                <a:r>
                  <a:rPr lang="ko-KR" altLang="en-US" err="1">
                    <a:solidFill>
                      <a:schemeClr val="bg1"/>
                    </a:solidFill>
                    <a:ea typeface="맑은 고딕"/>
                  </a:rPr>
                  <a:t>에</a:t>
                </a:r>
                <a:r>
                  <a:rPr lang="ko-KR" altLang="en-US">
                    <a:solidFill>
                      <a:schemeClr val="bg1"/>
                    </a:solidFill>
                    <a:ea typeface="맑은 고딕"/>
                  </a:rPr>
                  <a:t> 가까울 수록 용량 당 가격이 낮음</a:t>
                </a:r>
              </a:p>
            </p:txBody>
          </p:sp>
        </mc:Choice>
        <mc:Fallback xmlns=""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0DD108FA-B178-1F09-8154-2F3314928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38" y="1694728"/>
                <a:ext cx="7791689" cy="173427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440412E-00C5-C2B1-A873-5FAD8DBD66A3}"/>
              </a:ext>
            </a:extLst>
          </p:cNvPr>
          <p:cNvSpPr/>
          <p:nvPr/>
        </p:nvSpPr>
        <p:spPr>
          <a:xfrm>
            <a:off x="588379" y="1381247"/>
            <a:ext cx="2329405" cy="535329"/>
          </a:xfrm>
          <a:prstGeom prst="roundRect">
            <a:avLst/>
          </a:prstGeom>
          <a:ln>
            <a:solidFill>
              <a:srgbClr val="004C8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200" b="1">
                <a:solidFill>
                  <a:srgbClr val="004C86"/>
                </a:solidFill>
                <a:ea typeface="맑은 고딕"/>
              </a:rPr>
              <a:t>WHY?</a:t>
            </a:r>
          </a:p>
        </p:txBody>
      </p:sp>
      <p:sp>
        <p:nvSpPr>
          <p:cNvPr id="2" name="사각형: 둥근 모서리 2">
            <a:extLst>
              <a:ext uri="{FF2B5EF4-FFF2-40B4-BE49-F238E27FC236}">
                <a16:creationId xmlns:a16="http://schemas.microsoft.com/office/drawing/2014/main" id="{618A36F2-97A9-17A5-6824-D7B788E600FC}"/>
              </a:ext>
            </a:extLst>
          </p:cNvPr>
          <p:cNvSpPr/>
          <p:nvPr/>
        </p:nvSpPr>
        <p:spPr>
          <a:xfrm>
            <a:off x="516038" y="4342230"/>
            <a:ext cx="7791689" cy="1734272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ea typeface="맑은 고딕"/>
              </a:rPr>
              <a:t>3900kvar -&gt; 5196 USD</a:t>
            </a:r>
          </a:p>
          <a:p>
            <a:pPr algn="ctr"/>
            <a:r>
              <a:rPr lang="en-US" altLang="ko-KR">
                <a:solidFill>
                  <a:schemeClr val="bg1"/>
                </a:solidFill>
                <a:ea typeface="맑은 고딕"/>
              </a:rPr>
              <a:t>1300k * 3 = 2749 USD</a:t>
            </a:r>
            <a:endParaRPr lang="ko-KR" altLang="en-US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8344D891-A17D-6347-A5B6-EE26054ECDA9}"/>
              </a:ext>
            </a:extLst>
          </p:cNvPr>
          <p:cNvSpPr/>
          <p:nvPr/>
        </p:nvSpPr>
        <p:spPr>
          <a:xfrm>
            <a:off x="588379" y="4028749"/>
            <a:ext cx="2329405" cy="535329"/>
          </a:xfrm>
          <a:prstGeom prst="roundRect">
            <a:avLst/>
          </a:prstGeom>
          <a:ln>
            <a:solidFill>
              <a:srgbClr val="004C8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200" b="1">
                <a:solidFill>
                  <a:srgbClr val="004C86"/>
                </a:solidFill>
                <a:ea typeface="맑은 고딕"/>
              </a:rPr>
              <a:t>Ex)</a:t>
            </a:r>
            <a:endParaRPr lang="ko-KR" altLang="en-US" sz="2200" b="1">
              <a:solidFill>
                <a:srgbClr val="004C86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9905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"/>
    </mc:Choice>
    <mc:Fallback xmlns="">
      <p:transition spd="slow" advTm="12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59394-83A7-7EE0-FF4E-818D4D5F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EACCB2-0480-4213-8D89-01D06F84935B}"/>
              </a:ext>
            </a:extLst>
          </p:cNvPr>
          <p:cNvSpPr txBox="1"/>
          <p:nvPr/>
        </p:nvSpPr>
        <p:spPr>
          <a:xfrm>
            <a:off x="561600" y="476674"/>
            <a:ext cx="782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비용 기반 탐색 가지치기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20B7F7-0ACE-7A92-B9B1-19D2EC72ED63}"/>
              </a:ext>
            </a:extLst>
          </p:cNvPr>
          <p:cNvSpPr/>
          <p:nvPr/>
        </p:nvSpPr>
        <p:spPr>
          <a:xfrm>
            <a:off x="524727" y="2134126"/>
            <a:ext cx="7791689" cy="1734272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Malgun Gothic"/>
                <a:ea typeface="Malgun Gothic"/>
              </a:rPr>
              <a:t>발견된 해의 총비용 </a:t>
            </a:r>
            <a:r>
              <a:rPr lang="en-US" altLang="ko-KR">
                <a:solidFill>
                  <a:schemeClr val="bg1"/>
                </a:solidFill>
                <a:latin typeface="Malgun Gothic"/>
                <a:ea typeface="Malgun Gothic"/>
              </a:rPr>
              <a:t>C</a:t>
            </a:r>
            <a:r>
              <a:rPr lang="ko-KR" altLang="en-US">
                <a:solidFill>
                  <a:schemeClr val="bg1"/>
                </a:solidFill>
                <a:latin typeface="Malgun Gothic"/>
                <a:ea typeface="Malgun Gothic"/>
              </a:rPr>
              <a:t>가 </a:t>
            </a:r>
            <a:endParaRPr lang="en-US" altLang="ko-KR">
              <a:solidFill>
                <a:schemeClr val="bg1"/>
              </a:solidFill>
              <a:latin typeface="Malgun Gothic"/>
              <a:ea typeface="Malgun Gothic"/>
            </a:endParaRPr>
          </a:p>
          <a:p>
            <a:pPr algn="ctr"/>
            <a:r>
              <a:rPr lang="en-US" altLang="ko-KR">
                <a:solidFill>
                  <a:schemeClr val="bg1"/>
                </a:solidFill>
                <a:ea typeface="맑은 고딕"/>
              </a:rPr>
              <a:t>C&lt; 749$(1Mvar 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설치비용</a:t>
            </a:r>
            <a:r>
              <a:rPr lang="en-US" altLang="ko-KR">
                <a:solidFill>
                  <a:schemeClr val="bg1"/>
                </a:solidFill>
                <a:ea typeface="맑은 고딕"/>
              </a:rPr>
              <a:t>)x </a:t>
            </a:r>
            <a:r>
              <a:rPr lang="en-US" altLang="ko-KR" b="1">
                <a:solidFill>
                  <a:schemeClr val="accent1">
                    <a:lumMod val="40000"/>
                    <a:lumOff val="60000"/>
                  </a:schemeClr>
                </a:solidFill>
                <a:ea typeface="맑은 고딕"/>
              </a:rPr>
              <a:t>N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인 경우</a:t>
            </a:r>
            <a:r>
              <a:rPr lang="en-US" altLang="ko-KR">
                <a:solidFill>
                  <a:schemeClr val="bg1"/>
                </a:solidFill>
                <a:ea typeface="맑은 고딕"/>
              </a:rPr>
              <a:t>, </a:t>
            </a:r>
          </a:p>
          <a:p>
            <a:pPr algn="ctr"/>
            <a:r>
              <a:rPr lang="en-US" altLang="ko-KR" b="1">
                <a:solidFill>
                  <a:schemeClr val="accent1">
                    <a:lumMod val="40000"/>
                    <a:lumOff val="60000"/>
                  </a:schemeClr>
                </a:solidFill>
                <a:ea typeface="맑은 고딕"/>
              </a:rPr>
              <a:t>N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개 이상의 버스에 </a:t>
            </a:r>
            <a:r>
              <a:rPr lang="ko-KR" altLang="en-US" err="1">
                <a:solidFill>
                  <a:schemeClr val="bg1"/>
                </a:solidFill>
                <a:ea typeface="맑은 고딕"/>
              </a:rPr>
              <a:t>커패시터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 설치 조합은 더 이상 탐색하지 않음</a:t>
            </a:r>
          </a:p>
        </p:txBody>
      </p:sp>
    </p:spTree>
    <p:extLst>
      <p:ext uri="{BB962C8B-B14F-4D97-AF65-F5344CB8AC3E}">
        <p14:creationId xmlns:p14="http://schemas.microsoft.com/office/powerpoint/2010/main" val="423151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"/>
    </mc:Choice>
    <mc:Fallback xmlns="">
      <p:transition spd="slow" advTm="1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7435B-3EF9-21B2-79E3-552668BE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C0608E6-D909-59C3-530B-875B62E6F3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664839"/>
              </p:ext>
            </p:extLst>
          </p:nvPr>
        </p:nvGraphicFramePr>
        <p:xfrm>
          <a:off x="961777" y="3239303"/>
          <a:ext cx="7229025" cy="318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2" descr="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EBCFB4-1E52-AE66-81CF-C87CE9485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293" y="723416"/>
            <a:ext cx="4876800" cy="267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1CEA20-4675-1DAB-E97E-3069FA0FFFB9}"/>
              </a:ext>
            </a:extLst>
          </p:cNvPr>
          <p:cNvSpPr txBox="1"/>
          <p:nvPr/>
        </p:nvSpPr>
        <p:spPr>
          <a:xfrm>
            <a:off x="561600" y="476674"/>
            <a:ext cx="782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전체 </a:t>
            </a:r>
            <a:r>
              <a:rPr lang="en-US" altLang="ko-KR" sz="2600" b="1" spc="-80" err="1">
                <a:solidFill>
                  <a:srgbClr val="004C86"/>
                </a:solidFill>
              </a:rPr>
              <a:t>pu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ko-KR" altLang="en-US" sz="2600" b="1" spc="-80">
                <a:solidFill>
                  <a:srgbClr val="004C86"/>
                </a:solidFill>
              </a:rPr>
              <a:t>변화량 평균 </a:t>
            </a:r>
            <a:r>
              <a:rPr lang="en-US" altLang="ko-KR" sz="2600" b="1" spc="-80">
                <a:solidFill>
                  <a:srgbClr val="004C86"/>
                </a:solidFill>
              </a:rPr>
              <a:t>(</a:t>
            </a:r>
            <a:r>
              <a:rPr lang="ko-KR" altLang="en-US" sz="2600" b="1" spc="-80">
                <a:solidFill>
                  <a:srgbClr val="004C86"/>
                </a:solidFill>
              </a:rPr>
              <a:t>전압 민감도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0E8FD-C7FD-D548-3C92-F3D1FF119CF9}"/>
              </a:ext>
            </a:extLst>
          </p:cNvPr>
          <p:cNvSpPr txBox="1"/>
          <p:nvPr/>
        </p:nvSpPr>
        <p:spPr>
          <a:xfrm>
            <a:off x="215976" y="1091326"/>
            <a:ext cx="680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3Mvar</a:t>
            </a:r>
            <a:r>
              <a:rPr lang="ko-KR" altLang="en-US" spc="-80" err="1"/>
              <a:t>를</a:t>
            </a:r>
            <a:r>
              <a:rPr lang="ko-KR" altLang="en-US" spc="-80"/>
              <a:t> 각 위치에 달았을 때 </a:t>
            </a:r>
            <a:r>
              <a:rPr lang="en-US" altLang="ko-KR" spc="-80" err="1"/>
              <a:t>pu</a:t>
            </a:r>
            <a:r>
              <a:rPr lang="en-US" altLang="ko-KR" spc="-80"/>
              <a:t> </a:t>
            </a:r>
            <a:r>
              <a:rPr lang="ko-KR" altLang="en-US" spc="-80"/>
              <a:t>변화량 평균</a:t>
            </a:r>
          </a:p>
        </p:txBody>
      </p:sp>
    </p:spTree>
    <p:extLst>
      <p:ext uri="{BB962C8B-B14F-4D97-AF65-F5344CB8AC3E}">
        <p14:creationId xmlns:p14="http://schemas.microsoft.com/office/powerpoint/2010/main" val="425005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"/>
    </mc:Choice>
    <mc:Fallback xmlns="">
      <p:transition spd="slow" advTm="11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5D067-84B4-14F7-F9A9-8F855C48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F72FD0AE-77DF-FC7A-9962-55B1B89AD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395480"/>
              </p:ext>
            </p:extLst>
          </p:nvPr>
        </p:nvGraphicFramePr>
        <p:xfrm>
          <a:off x="961777" y="3239303"/>
          <a:ext cx="7229025" cy="318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2" descr="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A02C6D-3436-7350-EA77-FF11E2473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293" y="723416"/>
            <a:ext cx="4876800" cy="267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5CDCA1-5E82-83B2-12A2-A81184DE3119}"/>
              </a:ext>
            </a:extLst>
          </p:cNvPr>
          <p:cNvSpPr txBox="1"/>
          <p:nvPr/>
        </p:nvSpPr>
        <p:spPr>
          <a:xfrm>
            <a:off x="561600" y="476674"/>
            <a:ext cx="782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전체 </a:t>
            </a:r>
            <a:r>
              <a:rPr lang="en-US" altLang="ko-KR" sz="2600" b="1" spc="-80" err="1">
                <a:solidFill>
                  <a:srgbClr val="004C86"/>
                </a:solidFill>
              </a:rPr>
              <a:t>pu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ko-KR" altLang="en-US" sz="2600" b="1" spc="-80">
                <a:solidFill>
                  <a:srgbClr val="004C86"/>
                </a:solidFill>
              </a:rPr>
              <a:t>변화량 평균 </a:t>
            </a:r>
            <a:r>
              <a:rPr lang="en-US" altLang="ko-KR" sz="2600" b="1" spc="-80">
                <a:solidFill>
                  <a:srgbClr val="004C86"/>
                </a:solidFill>
              </a:rPr>
              <a:t>(</a:t>
            </a:r>
            <a:r>
              <a:rPr lang="ko-KR" altLang="en-US" sz="2600" b="1" spc="-80">
                <a:solidFill>
                  <a:srgbClr val="004C86"/>
                </a:solidFill>
              </a:rPr>
              <a:t>전압 민감도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9DFF6-889F-CAB3-B32A-2D2E50D6F2A0}"/>
              </a:ext>
            </a:extLst>
          </p:cNvPr>
          <p:cNvSpPr txBox="1"/>
          <p:nvPr/>
        </p:nvSpPr>
        <p:spPr>
          <a:xfrm>
            <a:off x="215976" y="1091326"/>
            <a:ext cx="680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3Mvar</a:t>
            </a:r>
            <a:r>
              <a:rPr lang="ko-KR" altLang="en-US" spc="-80" err="1"/>
              <a:t>를</a:t>
            </a:r>
            <a:r>
              <a:rPr lang="ko-KR" altLang="en-US" spc="-80"/>
              <a:t> 각 위치에 달았을 때 </a:t>
            </a:r>
            <a:r>
              <a:rPr lang="en-US" altLang="ko-KR" spc="-80" err="1"/>
              <a:t>pu</a:t>
            </a:r>
            <a:r>
              <a:rPr lang="en-US" altLang="ko-KR" spc="-80"/>
              <a:t> </a:t>
            </a:r>
            <a:r>
              <a:rPr lang="ko-KR" altLang="en-US" spc="-80"/>
              <a:t>변화량 평균</a:t>
            </a:r>
          </a:p>
        </p:txBody>
      </p:sp>
    </p:spTree>
    <p:extLst>
      <p:ext uri="{BB962C8B-B14F-4D97-AF65-F5344CB8AC3E}">
        <p14:creationId xmlns:p14="http://schemas.microsoft.com/office/powerpoint/2010/main" val="187301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"/>
    </mc:Choice>
    <mc:Fallback xmlns="">
      <p:transition spd="slow" advTm="11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2C5AF-40DF-EF35-BDB6-1DA5A24B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1542B8E1-439B-47F0-3F68-56462AB5D0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143358"/>
              </p:ext>
            </p:extLst>
          </p:nvPr>
        </p:nvGraphicFramePr>
        <p:xfrm>
          <a:off x="961777" y="3239303"/>
          <a:ext cx="7229025" cy="318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2" descr="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BDA146-ED20-A4FD-12E6-45595FA5C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293" y="723416"/>
            <a:ext cx="4876800" cy="267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FC24A9-FCA1-E21E-9482-17763EF52524}"/>
              </a:ext>
            </a:extLst>
          </p:cNvPr>
          <p:cNvSpPr txBox="1"/>
          <p:nvPr/>
        </p:nvSpPr>
        <p:spPr>
          <a:xfrm>
            <a:off x="561600" y="476674"/>
            <a:ext cx="782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전체 </a:t>
            </a:r>
            <a:r>
              <a:rPr lang="en-US" altLang="ko-KR" sz="2600" b="1" spc="-80" err="1">
                <a:solidFill>
                  <a:srgbClr val="004C86"/>
                </a:solidFill>
              </a:rPr>
              <a:t>pu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ko-KR" altLang="en-US" sz="2600" b="1" spc="-80">
                <a:solidFill>
                  <a:srgbClr val="004C86"/>
                </a:solidFill>
              </a:rPr>
              <a:t>변화량 평균 </a:t>
            </a:r>
            <a:r>
              <a:rPr lang="en-US" altLang="ko-KR" sz="2600" b="1" spc="-80">
                <a:solidFill>
                  <a:srgbClr val="004C86"/>
                </a:solidFill>
              </a:rPr>
              <a:t>(</a:t>
            </a:r>
            <a:r>
              <a:rPr lang="ko-KR" altLang="en-US" sz="2600" b="1" spc="-80">
                <a:solidFill>
                  <a:srgbClr val="004C86"/>
                </a:solidFill>
              </a:rPr>
              <a:t>전압 민감도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CC8CF-BA12-FA61-B6C0-9355031D5D5C}"/>
              </a:ext>
            </a:extLst>
          </p:cNvPr>
          <p:cNvSpPr txBox="1"/>
          <p:nvPr/>
        </p:nvSpPr>
        <p:spPr>
          <a:xfrm>
            <a:off x="215976" y="1091326"/>
            <a:ext cx="680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4Mvar</a:t>
            </a:r>
            <a:r>
              <a:rPr lang="ko-KR" altLang="en-US" spc="-80" err="1"/>
              <a:t>를</a:t>
            </a:r>
            <a:r>
              <a:rPr lang="ko-KR" altLang="en-US" spc="-80"/>
              <a:t> 각 위치에 달았을 때 </a:t>
            </a:r>
            <a:r>
              <a:rPr lang="en-US" altLang="ko-KR" spc="-80" err="1"/>
              <a:t>pu</a:t>
            </a:r>
            <a:r>
              <a:rPr lang="en-US" altLang="ko-KR" spc="-80"/>
              <a:t> </a:t>
            </a:r>
            <a:r>
              <a:rPr lang="ko-KR" altLang="en-US" spc="-80"/>
              <a:t>변화량 평균</a:t>
            </a:r>
          </a:p>
        </p:txBody>
      </p:sp>
    </p:spTree>
    <p:extLst>
      <p:ext uri="{BB962C8B-B14F-4D97-AF65-F5344CB8AC3E}">
        <p14:creationId xmlns:p14="http://schemas.microsoft.com/office/powerpoint/2010/main" val="203227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"/>
    </mc:Choice>
    <mc:Fallback xmlns="">
      <p:transition spd="slow" advTm="11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FF6AA-93B0-62EC-8C76-3446041F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08256E-E2D2-4E16-8F62-DD7CE693C763}"/>
              </a:ext>
            </a:extLst>
          </p:cNvPr>
          <p:cNvSpPr txBox="1"/>
          <p:nvPr/>
        </p:nvSpPr>
        <p:spPr>
          <a:xfrm>
            <a:off x="611560" y="2001614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pc="-50">
                <a:solidFill>
                  <a:schemeClr val="bg1"/>
                </a:solidFill>
              </a:rPr>
              <a:t>최적해 찾기 </a:t>
            </a:r>
            <a:r>
              <a:rPr lang="en-US" altLang="ko-KR" sz="5400" b="1" spc="-50">
                <a:solidFill>
                  <a:schemeClr val="bg1"/>
                </a:solidFill>
              </a:rPr>
              <a:t>Python</a:t>
            </a:r>
            <a:endParaRPr lang="ko-KR" altLang="en-US" sz="5400" b="1" spc="-5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77272-B599-B112-23DB-A0EFE5517AA3}"/>
              </a:ext>
            </a:extLst>
          </p:cNvPr>
          <p:cNvSpPr txBox="1"/>
          <p:nvPr/>
        </p:nvSpPr>
        <p:spPr>
          <a:xfrm>
            <a:off x="144924" y="2924944"/>
            <a:ext cx="7667436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4000"/>
              </a:lnSpc>
            </a:pPr>
            <a:r>
              <a:rPr lang="en-US" altLang="ko-KR" sz="2100" b="1" spc="-120">
                <a:solidFill>
                  <a:schemeClr val="bg1"/>
                </a:solidFill>
                <a:latin typeface="+mn-ea"/>
              </a:rPr>
              <a:t>Python DE Algorithm, GA Algorithm, </a:t>
            </a:r>
            <a:r>
              <a:rPr lang="ko-KR" altLang="en-US" sz="2100" b="1" spc="-120">
                <a:solidFill>
                  <a:schemeClr val="bg1"/>
                </a:solidFill>
                <a:latin typeface="+mn-ea"/>
              </a:rPr>
              <a:t>분석</a:t>
            </a:r>
            <a:endParaRPr lang="en-US" altLang="ko-KR" sz="2100" b="1" spc="-12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368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4"/>
    </mc:Choice>
    <mc:Fallback xmlns="">
      <p:transition spd="slow" advTm="418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8D300-8ED6-1106-C1BB-86C350C6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05E845F-AC9C-6FFA-2D4F-2E2557CDE28F}"/>
              </a:ext>
            </a:extLst>
          </p:cNvPr>
          <p:cNvSpPr txBox="1"/>
          <p:nvPr/>
        </p:nvSpPr>
        <p:spPr>
          <a:xfrm>
            <a:off x="405234" y="1700808"/>
            <a:ext cx="85506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>
                <a:latin typeface="+mn-ea"/>
              </a:rPr>
              <a:t>손쉬운 사용법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상용 툴처럼 상세하고 검증된 모델 라이브러리 제공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선로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변압기 등</a:t>
            </a:r>
            <a:r>
              <a:rPr lang="en-US" altLang="ko-KR" sz="1400">
                <a:latin typeface="+mn-ea"/>
              </a:rPr>
              <a:t>)</a:t>
            </a:r>
          </a:p>
          <a:p>
            <a:r>
              <a:rPr lang="ko-KR" altLang="en-US" sz="1400">
                <a:latin typeface="+mn-ea"/>
              </a:rPr>
              <a:t>강력한 자동화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스크립트 기반으로 반복적인 계통 분석 및 평가 자동화에 최적화</a:t>
            </a:r>
          </a:p>
          <a:p>
            <a:r>
              <a:rPr lang="ko-KR" altLang="en-US" sz="1400">
                <a:latin typeface="+mn-ea"/>
              </a:rPr>
              <a:t>유연성 및 확장성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오픈 소스로서 사용자 정의 및 기능 수정이 자유로움</a:t>
            </a:r>
          </a:p>
          <a:p>
            <a:endParaRPr lang="en-US" altLang="ko-KR" sz="1400" b="1">
              <a:latin typeface="+mn-ea"/>
            </a:endParaRPr>
          </a:p>
          <a:p>
            <a:r>
              <a:rPr lang="ko-KR" altLang="en-US" sz="1400">
                <a:latin typeface="+mn-ea"/>
              </a:rPr>
              <a:t>다양한 해석 기능 </a:t>
            </a:r>
            <a:r>
              <a:rPr lang="en-US" altLang="ko-KR" sz="1400">
                <a:latin typeface="+mn-ea"/>
              </a:rPr>
              <a:t>: </a:t>
            </a:r>
          </a:p>
          <a:p>
            <a:pPr lvl="1"/>
            <a:r>
              <a:rPr lang="ko-KR" altLang="en-US" sz="1400" b="1">
                <a:latin typeface="+mn-ea"/>
              </a:rPr>
              <a:t>조류 계산 </a:t>
            </a:r>
            <a:r>
              <a:rPr lang="en-US" altLang="ko-KR" sz="1400" b="1">
                <a:latin typeface="+mn-ea"/>
              </a:rPr>
              <a:t>(</a:t>
            </a:r>
            <a:r>
              <a:rPr lang="en-US" altLang="ko-Kore-KR" sz="1400" b="1">
                <a:latin typeface="+mn-ea"/>
              </a:rPr>
              <a:t>Power Flow)</a:t>
            </a:r>
            <a:endParaRPr lang="en-US" altLang="ko-Kore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최적 조류 계산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ore-KR" sz="1400">
                <a:latin typeface="+mn-ea"/>
              </a:rPr>
              <a:t>Optimal Power Flow)</a:t>
            </a:r>
          </a:p>
          <a:p>
            <a:pPr lvl="1"/>
            <a:r>
              <a:rPr lang="ko-KR" altLang="en-US" sz="1400">
                <a:latin typeface="+mn-ea"/>
              </a:rPr>
              <a:t>상태 추정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ore-KR" sz="1400">
                <a:latin typeface="+mn-ea"/>
              </a:rPr>
              <a:t>State Estimation)</a:t>
            </a:r>
          </a:p>
          <a:p>
            <a:pPr lvl="1"/>
            <a:r>
              <a:rPr lang="ko-KR" altLang="en-US" sz="1400">
                <a:latin typeface="+mn-ea"/>
              </a:rPr>
              <a:t>고장 계산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ore-KR" sz="1400">
                <a:latin typeface="+mn-ea"/>
              </a:rPr>
              <a:t>Short-Circuit Calculation)</a:t>
            </a:r>
          </a:p>
          <a:p>
            <a:pPr lvl="1"/>
            <a:r>
              <a:rPr lang="ko-KR" altLang="en-US" sz="1400">
                <a:latin typeface="+mn-ea"/>
              </a:rPr>
              <a:t>위상학적 검색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ore-KR" sz="1400">
                <a:latin typeface="+mn-ea"/>
              </a:rPr>
              <a:t>Graph Searches)</a:t>
            </a:r>
          </a:p>
          <a:p>
            <a:pPr lvl="1"/>
            <a:endParaRPr lang="en-US" altLang="ko-Kore-KR" sz="1400">
              <a:latin typeface="+mn-ea"/>
            </a:endParaRPr>
          </a:p>
          <a:p>
            <a:r>
              <a:rPr lang="ko-KR" altLang="en-US" sz="1400" b="1">
                <a:latin typeface="+mn-ea"/>
              </a:rPr>
              <a:t>신뢰성</a:t>
            </a:r>
            <a:r>
              <a:rPr lang="en-US" altLang="ko-KR" sz="1400">
                <a:latin typeface="+mn-ea"/>
              </a:rPr>
              <a:t>: </a:t>
            </a:r>
          </a:p>
          <a:p>
            <a:r>
              <a:rPr lang="ko-KR" altLang="en-US" sz="1400">
                <a:latin typeface="+mn-ea"/>
              </a:rPr>
              <a:t>        상용 소프트웨어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ore-KR" sz="1400" err="1">
                <a:latin typeface="+mn-ea"/>
              </a:rPr>
              <a:t>PowerFactory</a:t>
            </a:r>
            <a:r>
              <a:rPr lang="en-US" altLang="ko-Kore-KR" sz="1400">
                <a:latin typeface="+mn-ea"/>
              </a:rPr>
              <a:t>, PSS </a:t>
            </a:r>
            <a:r>
              <a:rPr lang="en-US" altLang="ko-Kore-KR" sz="1400" err="1">
                <a:latin typeface="+mn-ea"/>
              </a:rPr>
              <a:t>Sincal</a:t>
            </a:r>
            <a:r>
              <a:rPr lang="en-US" altLang="ko-Kore-KR" sz="1400">
                <a:latin typeface="+mn-ea"/>
              </a:rPr>
              <a:t>)</a:t>
            </a:r>
            <a:r>
              <a:rPr lang="ko-KR" altLang="en-US" sz="1400">
                <a:latin typeface="+mn-ea"/>
              </a:rPr>
              <a:t>와 결과 비교를 통해 </a:t>
            </a:r>
            <a:r>
              <a:rPr lang="ko-KR" altLang="en-US" sz="1400" b="1">
                <a:latin typeface="+mn-ea"/>
              </a:rPr>
              <a:t>철저한 검증</a:t>
            </a:r>
            <a:r>
              <a:rPr lang="ko-KR" altLang="en-US" sz="1400">
                <a:latin typeface="+mn-ea"/>
              </a:rPr>
              <a:t> 완료</a:t>
            </a:r>
            <a:endParaRPr lang="en-US" altLang="ko-KR" sz="1400">
              <a:latin typeface="+mn-ea"/>
            </a:endParaRPr>
          </a:p>
          <a:p>
            <a:endParaRPr lang="en-US" altLang="ko-KR" sz="1400">
              <a:latin typeface="+mn-ea"/>
            </a:endParaRPr>
          </a:p>
          <a:p>
            <a:r>
              <a:rPr lang="ko-KR" altLang="en-US" sz="1400">
                <a:latin typeface="+mn-ea"/>
              </a:rPr>
              <a:t>파이썬 기반 전력계통 해석 라이브러리</a:t>
            </a:r>
            <a:endParaRPr lang="ko-Kore-KR" altLang="en-US" sz="1400">
              <a:latin typeface="+mn-ea"/>
            </a:endParaRPr>
          </a:p>
          <a:p>
            <a:r>
              <a:rPr lang="en-US" altLang="ko-KR" sz="1400">
                <a:latin typeface="+mn-ea"/>
              </a:rPr>
              <a:t>	</a:t>
            </a:r>
            <a:r>
              <a:rPr lang="ko-KR" altLang="en-US" sz="1400">
                <a:latin typeface="+mn-ea"/>
              </a:rPr>
              <a:t>데이터 분석 라이브러리 </a:t>
            </a:r>
            <a:r>
              <a:rPr lang="en-US" altLang="ko-Kore-KR" sz="1400">
                <a:latin typeface="+mn-ea"/>
              </a:rPr>
              <a:t>Pandas</a:t>
            </a:r>
            <a:r>
              <a:rPr lang="ko-KR" altLang="en-US" sz="1400">
                <a:latin typeface="+mn-ea"/>
              </a:rPr>
              <a:t>와 전력계통 해석 </a:t>
            </a:r>
            <a:r>
              <a:rPr lang="ko-KR" altLang="en-US" sz="1400" err="1">
                <a:latin typeface="+mn-ea"/>
              </a:rPr>
              <a:t>툴박스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ore-KR" sz="1400">
                <a:latin typeface="+mn-ea"/>
              </a:rPr>
              <a:t>PYPOWER</a:t>
            </a:r>
            <a:r>
              <a:rPr lang="ko-KR" altLang="en-US" sz="1400" err="1">
                <a:latin typeface="+mn-ea"/>
              </a:rPr>
              <a:t>를</a:t>
            </a:r>
            <a:r>
              <a:rPr lang="ko-KR" altLang="en-US" sz="1400">
                <a:latin typeface="+mn-ea"/>
              </a:rPr>
              <a:t> 결합</a:t>
            </a:r>
          </a:p>
          <a:p>
            <a:r>
              <a:rPr lang="en-US" altLang="ko-KR" sz="1400">
                <a:latin typeface="+mn-ea"/>
              </a:rPr>
              <a:t>	</a:t>
            </a:r>
            <a:r>
              <a:rPr lang="ko-KR" altLang="en-US" sz="1400" b="1">
                <a:latin typeface="+mn-ea"/>
              </a:rPr>
              <a:t>전력계통의 해석 및 최적화 자동화에 초점</a:t>
            </a:r>
          </a:p>
          <a:p>
            <a:pPr>
              <a:buNone/>
            </a:pPr>
            <a:endParaRPr lang="en-US" altLang="ko-KR" sz="1400">
              <a:latin typeface="+mn-ea"/>
            </a:endParaRPr>
          </a:p>
          <a:p>
            <a:pPr>
              <a:buNone/>
            </a:pPr>
            <a:r>
              <a:rPr lang="ko-KR" altLang="en-US" sz="1400">
                <a:latin typeface="+mn-ea"/>
              </a:rPr>
              <a:t>핵심 컨셉</a:t>
            </a:r>
          </a:p>
          <a:p>
            <a:pPr lvl="1"/>
            <a:r>
              <a:rPr lang="ko-KR" altLang="en-US" sz="1400">
                <a:latin typeface="+mn-ea"/>
              </a:rPr>
              <a:t>테이블 형식 데이터 구조</a:t>
            </a:r>
            <a:r>
              <a:rPr lang="en-US" altLang="ko-KR" sz="1400">
                <a:latin typeface="+mn-ea"/>
              </a:rPr>
              <a:t>: </a:t>
            </a:r>
            <a:r>
              <a:rPr lang="en-US" altLang="ko-Kore-KR" sz="1400">
                <a:latin typeface="+mn-ea"/>
              </a:rPr>
              <a:t>Pandas</a:t>
            </a:r>
            <a:r>
              <a:rPr lang="ko-KR" altLang="en-US" sz="1400" err="1">
                <a:latin typeface="+mn-ea"/>
              </a:rPr>
              <a:t>를</a:t>
            </a:r>
            <a:r>
              <a:rPr lang="ko-KR" altLang="en-US" sz="1400">
                <a:latin typeface="+mn-ea"/>
              </a:rPr>
              <a:t> 활용하여 계통 데이터를 직관적으로 관리 및 분석</a:t>
            </a:r>
          </a:p>
          <a:p>
            <a:pPr lvl="1"/>
            <a:r>
              <a:rPr lang="ko-KR" altLang="en-US" sz="1400">
                <a:latin typeface="+mn-ea"/>
              </a:rPr>
              <a:t>성능</a:t>
            </a:r>
            <a:r>
              <a:rPr lang="en-US" altLang="ko-KR" sz="1400">
                <a:latin typeface="+mn-ea"/>
              </a:rPr>
              <a:t>: </a:t>
            </a:r>
            <a:r>
              <a:rPr lang="en-US" altLang="ko-Kore-KR" sz="1400" err="1">
                <a:latin typeface="+mn-ea"/>
              </a:rPr>
              <a:t>numba</a:t>
            </a:r>
            <a:r>
              <a:rPr lang="ko-KR" altLang="en-US" sz="1400" err="1">
                <a:latin typeface="+mn-ea"/>
              </a:rPr>
              <a:t>를</a:t>
            </a:r>
            <a:r>
              <a:rPr lang="ko-KR" altLang="en-US" sz="1400">
                <a:latin typeface="+mn-ea"/>
              </a:rPr>
              <a:t> 이용한 </a:t>
            </a:r>
            <a:r>
              <a:rPr lang="en-US" altLang="ko-Kore-KR" sz="1400">
                <a:latin typeface="+mn-ea"/>
              </a:rPr>
              <a:t>JIT </a:t>
            </a:r>
            <a:r>
              <a:rPr lang="ko-KR" altLang="en-US" sz="1400">
                <a:latin typeface="+mn-ea"/>
              </a:rPr>
              <a:t>컴파일로 대규모 계통에서도 </a:t>
            </a:r>
            <a:r>
              <a:rPr lang="ko-KR" altLang="en-US" sz="1400" b="1">
                <a:latin typeface="+mn-ea"/>
              </a:rPr>
              <a:t>빠른 조류 계산 속도 보장</a:t>
            </a:r>
          </a:p>
          <a:p>
            <a:pPr lvl="1"/>
            <a:endParaRPr lang="ko-KR" altLang="en-US" sz="140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53943-5025-777C-9E64-1FBE9BCF926B}"/>
              </a:ext>
            </a:extLst>
          </p:cNvPr>
          <p:cNvSpPr txBox="1"/>
          <p:nvPr/>
        </p:nvSpPr>
        <p:spPr>
          <a:xfrm>
            <a:off x="561600" y="476674"/>
            <a:ext cx="53785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Pandapower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08E9F-B322-0D08-0D60-B92A5543D12F}"/>
              </a:ext>
            </a:extLst>
          </p:cNvPr>
          <p:cNvSpPr txBox="1"/>
          <p:nvPr/>
        </p:nvSpPr>
        <p:spPr>
          <a:xfrm>
            <a:off x="405234" y="1268762"/>
            <a:ext cx="680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400" spc="-80"/>
              <a:t>Python </a:t>
            </a:r>
            <a:r>
              <a:rPr lang="ko-KR" altLang="en-US" sz="1400" spc="-80"/>
              <a:t>외부 라이브러리 </a:t>
            </a:r>
            <a:r>
              <a:rPr lang="en-US" altLang="ko-KR" sz="1400" spc="-80"/>
              <a:t>Panda Power</a:t>
            </a:r>
            <a:endParaRPr lang="ko-KR" altLang="en-US" sz="1400" spc="-8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7B568F-7633-586F-86EB-C7EB9BEEB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852936"/>
            <a:ext cx="4247636" cy="124835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04467C5-2F38-B380-E1E7-6CFF7EE93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4" y="494062"/>
            <a:ext cx="2616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6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81"/>
    </mc:Choice>
    <mc:Fallback xmlns="">
      <p:transition spd="slow" advTm="1168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ADA57-FDF6-4912-F589-49CEAE66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0083B8-228B-E307-5061-E7A197D2928F}"/>
              </a:ext>
            </a:extLst>
          </p:cNvPr>
          <p:cNvSpPr txBox="1"/>
          <p:nvPr/>
        </p:nvSpPr>
        <p:spPr>
          <a:xfrm>
            <a:off x="561600" y="476674"/>
            <a:ext cx="78988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분석 신뢰도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90018D-79EB-B618-2899-9397D5D2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969116"/>
            <a:ext cx="2318070" cy="527414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CB76894-9235-DF69-C206-9FCD12DCB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562320"/>
              </p:ext>
            </p:extLst>
          </p:nvPr>
        </p:nvGraphicFramePr>
        <p:xfrm>
          <a:off x="5783749" y="932399"/>
          <a:ext cx="647648" cy="5297536"/>
        </p:xfrm>
        <a:graphic>
          <a:graphicData uri="http://schemas.openxmlformats.org/drawingml/2006/table">
            <a:tbl>
              <a:tblPr/>
              <a:tblGrid>
                <a:gridCol w="647648">
                  <a:extLst>
                    <a:ext uri="{9D8B030D-6E8A-4147-A177-3AD203B41FA5}">
                      <a16:colId xmlns:a16="http://schemas.microsoft.com/office/drawing/2014/main" val="2096742914"/>
                    </a:ext>
                  </a:extLst>
                </a:gridCol>
              </a:tblGrid>
              <a:tr h="170402">
                <a:tc>
                  <a:txBody>
                    <a:bodyPr/>
                    <a:lstStyle/>
                    <a:p>
                      <a:pPr rtl="0" fontAlgn="b"/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V_LF (</a:t>
                      </a:r>
                      <a:r>
                        <a:rPr lang="en-US" sz="1050" b="1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pu</a:t>
                      </a:r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)</a:t>
                      </a:r>
                      <a:endParaRPr lang="en-US" sz="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12656" marR="12656" marT="8438" marB="843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0368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0.9953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47407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0.9728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15140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0.9607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15744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0.9487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05228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5803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0.9133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5101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0.8911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96380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0.8808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82936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0.8713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08952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0620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0.8674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3333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0.8574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2464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0.8536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104391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0.8513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74363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0.849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56306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0.8457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290803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0.8447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18101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0.9945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0817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11731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0.9879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31274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0.9869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82571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0.9672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0537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0.9568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19760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0.9516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97036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09055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0.9117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903531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0.8933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7950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89018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0.8742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7985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0.8675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48625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230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0.8656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6623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AEF90D-C467-DAC2-8562-FCDB329D0656}"/>
              </a:ext>
            </a:extLst>
          </p:cNvPr>
          <p:cNvSpPr txBox="1"/>
          <p:nvPr/>
        </p:nvSpPr>
        <p:spPr>
          <a:xfrm>
            <a:off x="1475656" y="2788749"/>
            <a:ext cx="27142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3200" b="1" spc="-80">
                <a:solidFill>
                  <a:srgbClr val="004C86"/>
                </a:solidFill>
              </a:rPr>
              <a:t>전력조류가</a:t>
            </a:r>
            <a:endParaRPr lang="en-US" altLang="ko-KR" sz="3200" b="1" spc="-80">
              <a:solidFill>
                <a:srgbClr val="004C86"/>
              </a:solidFill>
            </a:endParaRPr>
          </a:p>
          <a:p>
            <a:pPr algn="dist"/>
            <a:r>
              <a:rPr lang="ko-KR" altLang="en-US" sz="3200" b="1" spc="-80">
                <a:solidFill>
                  <a:srgbClr val="004C86"/>
                </a:solidFill>
              </a:rPr>
              <a:t>같게 계산됨을</a:t>
            </a:r>
            <a:endParaRPr lang="en-US" altLang="ko-KR" sz="3200" b="1" spc="-80">
              <a:solidFill>
                <a:srgbClr val="004C86"/>
              </a:solidFill>
            </a:endParaRPr>
          </a:p>
          <a:p>
            <a:pPr algn="dist"/>
            <a:r>
              <a:rPr lang="ko-KR" altLang="en-US" sz="3200" b="1" spc="-80">
                <a:solidFill>
                  <a:srgbClr val="004C86"/>
                </a:solidFill>
              </a:rPr>
              <a:t>확인 가능</a:t>
            </a:r>
            <a:endParaRPr lang="en-US" altLang="ko-KR" sz="32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28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04"/>
    </mc:Choice>
    <mc:Fallback xmlns="">
      <p:transition spd="slow" advTm="1180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EA1D3-C7F1-282C-1C72-6EDD2F71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2594CC-E47D-403B-0C93-93616E4E77E1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알고리즘 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6C7D4-B576-B051-ABCD-C9940C22389F}"/>
              </a:ext>
            </a:extLst>
          </p:cNvPr>
          <p:cNvSpPr txBox="1"/>
          <p:nvPr/>
        </p:nvSpPr>
        <p:spPr>
          <a:xfrm>
            <a:off x="736136" y="1924655"/>
            <a:ext cx="680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3600" b="1" spc="-80">
                <a:solidFill>
                  <a:srgbClr val="004C86"/>
                </a:solidFill>
              </a:rPr>
              <a:t>DE, GA</a:t>
            </a:r>
            <a:endParaRPr lang="ko-KR" altLang="en-US" sz="3600" b="1" spc="-80">
              <a:solidFill>
                <a:srgbClr val="004C86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D1A4DE-319B-D9CA-0B83-A7E5B39F6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815269"/>
              </p:ext>
            </p:extLst>
          </p:nvPr>
        </p:nvGraphicFramePr>
        <p:xfrm>
          <a:off x="562964" y="3818752"/>
          <a:ext cx="8113491" cy="2346960"/>
        </p:xfrm>
        <a:graphic>
          <a:graphicData uri="http://schemas.openxmlformats.org/drawingml/2006/table">
            <a:tbl>
              <a:tblPr/>
              <a:tblGrid>
                <a:gridCol w="1393717">
                  <a:extLst>
                    <a:ext uri="{9D8B030D-6E8A-4147-A177-3AD203B41FA5}">
                      <a16:colId xmlns:a16="http://schemas.microsoft.com/office/drawing/2014/main" val="1609922593"/>
                    </a:ext>
                  </a:extLst>
                </a:gridCol>
                <a:gridCol w="3359887">
                  <a:extLst>
                    <a:ext uri="{9D8B030D-6E8A-4147-A177-3AD203B41FA5}">
                      <a16:colId xmlns:a16="http://schemas.microsoft.com/office/drawing/2014/main" val="2979417074"/>
                    </a:ext>
                  </a:extLst>
                </a:gridCol>
                <a:gridCol w="3359887">
                  <a:extLst>
                    <a:ext uri="{9D8B030D-6E8A-4147-A177-3AD203B41FA5}">
                      <a16:colId xmlns:a16="http://schemas.microsoft.com/office/drawing/2014/main" val="765905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6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Differential Evolution (DE)</a:t>
                      </a:r>
                      <a:endParaRPr lang="en-US" sz="160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Genetic Algorithm (GA)</a:t>
                      </a:r>
                      <a:endParaRPr lang="en-US" sz="160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461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latin typeface="+mn-ea"/>
                          <a:ea typeface="+mn-ea"/>
                        </a:rPr>
                        <a:t>대표 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차이 벡터 기반 변이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유전자 교차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돌연변이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251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latin typeface="+mn-ea"/>
                          <a:ea typeface="+mn-ea"/>
                        </a:rPr>
                        <a:t>변수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연속값 벡터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>
                          <a:latin typeface="+mn-ea"/>
                          <a:ea typeface="+mn-ea"/>
                        </a:rPr>
                        <a:t>float)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이진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정수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58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latin typeface="+mn-ea"/>
                          <a:ea typeface="+mn-ea"/>
                        </a:rPr>
                        <a:t>수렴 특성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빠르고 안정적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다양성 유지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09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latin typeface="+mn-ea"/>
                          <a:ea typeface="+mn-ea"/>
                        </a:rPr>
                        <a:t>탐색 전략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수치 기반 계산적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유전자 조합 통한 확률적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026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실수 최적화에 강함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적은 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복잡한 구조 탐색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latin typeface="+mn-ea"/>
                          <a:ea typeface="+mn-ea"/>
                        </a:rPr>
                        <a:t>적합 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연속형 최적화 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이산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구조적 최적화 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78885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F74178D-AA99-4F30-C4F0-CEF6ABCE0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924655"/>
            <a:ext cx="2616200" cy="774700"/>
          </a:xfrm>
          <a:prstGeom prst="rect">
            <a:avLst/>
          </a:prstGeom>
        </p:spPr>
      </p:pic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CD1D36E7-6E88-512F-C25A-F587EBC4E40F}"/>
              </a:ext>
            </a:extLst>
          </p:cNvPr>
          <p:cNvSpPr/>
          <p:nvPr/>
        </p:nvSpPr>
        <p:spPr>
          <a:xfrm>
            <a:off x="3347865" y="1924655"/>
            <a:ext cx="1214609" cy="646331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019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13"/>
    </mc:Choice>
    <mc:Fallback xmlns="">
      <p:transition spd="slow" advTm="2941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69A59-7404-366C-AEC5-9FEBE457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C29773-5298-FCF3-9583-53E1D19C354D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CODE </a:t>
            </a:r>
            <a:r>
              <a:rPr lang="ko-KR" altLang="en-US" sz="2600" b="1" spc="-80">
                <a:solidFill>
                  <a:srgbClr val="004C86"/>
                </a:solidFill>
              </a:rPr>
              <a:t>구현</a:t>
            </a:r>
            <a:r>
              <a:rPr lang="en-US" altLang="ko-KR" sz="2600" b="1" spc="-80">
                <a:solidFill>
                  <a:srgbClr val="004C86"/>
                </a:solidFill>
              </a:rPr>
              <a:t> (</a:t>
            </a:r>
            <a:r>
              <a:rPr lang="ko-KR" altLang="en-US" sz="2600" b="1" spc="-80">
                <a:solidFill>
                  <a:srgbClr val="004C86"/>
                </a:solidFill>
              </a:rPr>
              <a:t>준비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6DB056-761D-2B6E-0782-1D41A11F3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96752"/>
            <a:ext cx="2853485" cy="15841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27B30C-37D1-F7D8-4172-30C3CED02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846" y="1196752"/>
            <a:ext cx="2760330" cy="45811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4241D0-CA09-97F8-EB81-8A223EDD1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76" y="1196752"/>
            <a:ext cx="2760330" cy="445731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DEFA388-F1A2-AB88-4731-74A96C8A9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342" y="421172"/>
            <a:ext cx="2053284" cy="60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94"/>
    </mc:Choice>
    <mc:Fallback xmlns="">
      <p:transition spd="slow" advTm="869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E3D03-C11F-8D6C-CF15-D0BCB986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4D5A4FB-FFF9-7BB3-BCD6-C66CC4C4A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6" y="1052736"/>
            <a:ext cx="5153666" cy="569890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D21ABB2-BF0F-A703-8289-61A6F601F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908" y="1578429"/>
            <a:ext cx="927100" cy="254000"/>
          </a:xfrm>
          <a:prstGeom prst="rect">
            <a:avLst/>
          </a:prstGeom>
        </p:spPr>
      </p:pic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3D47BA99-9FED-4767-291E-2C14334E5A6F}"/>
              </a:ext>
            </a:extLst>
          </p:cNvPr>
          <p:cNvSpPr/>
          <p:nvPr/>
        </p:nvSpPr>
        <p:spPr>
          <a:xfrm rot="10800000">
            <a:off x="4558818" y="1926074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C703BD1-650C-EEF3-EED0-C8A4BA9BB2DB}"/>
              </a:ext>
            </a:extLst>
          </p:cNvPr>
          <p:cNvSpPr/>
          <p:nvPr/>
        </p:nvSpPr>
        <p:spPr>
          <a:xfrm>
            <a:off x="5153360" y="1832429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500">
                <a:latin typeface="+mn-ea"/>
              </a:rPr>
              <a:t>input : D (</a:t>
            </a:r>
            <a:r>
              <a:rPr kumimoji="1" lang="ko-KR" altLang="en-US" sz="1500" err="1">
                <a:latin typeface="+mn-ea"/>
              </a:rPr>
              <a:t>커패시터</a:t>
            </a:r>
            <a:r>
              <a:rPr kumimoji="1" lang="ko-KR" altLang="en-US" sz="1500">
                <a:latin typeface="+mn-ea"/>
              </a:rPr>
              <a:t> 용량 리스트</a:t>
            </a:r>
            <a:r>
              <a:rPr kumimoji="1" lang="en-US" altLang="ko-Kore-KR" sz="1500">
                <a:latin typeface="+mn-ea"/>
              </a:rPr>
              <a:t>)</a:t>
            </a:r>
            <a:endParaRPr kumimoji="1" lang="ko-Kore-KR" altLang="en-US" sz="1500">
              <a:latin typeface="+mn-ea"/>
            </a:endParaRP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AC0A11BF-417F-1035-C68F-173CF2879623}"/>
              </a:ext>
            </a:extLst>
          </p:cNvPr>
          <p:cNvSpPr/>
          <p:nvPr/>
        </p:nvSpPr>
        <p:spPr>
          <a:xfrm rot="10800000">
            <a:off x="4558818" y="3028933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82D4749-608F-5127-F4E7-FBC6F81FD92C}"/>
              </a:ext>
            </a:extLst>
          </p:cNvPr>
          <p:cNvSpPr/>
          <p:nvPr/>
        </p:nvSpPr>
        <p:spPr>
          <a:xfrm>
            <a:off x="5153360" y="2935288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/>
              <a:t>앞서 설치한 </a:t>
            </a:r>
            <a:r>
              <a:rPr kumimoji="1" lang="ko-KR" altLang="en-US" sz="1500" err="1"/>
              <a:t>커패시터</a:t>
            </a:r>
            <a:r>
              <a:rPr kumimoji="1" lang="ko-KR" altLang="en-US" sz="1500"/>
              <a:t> 설치 후 평가</a:t>
            </a:r>
            <a:endParaRPr kumimoji="1" lang="ko-Kore-KR" altLang="en-US" sz="1500"/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8FAD2CAF-D02D-8E93-7BDA-1F43490F5044}"/>
              </a:ext>
            </a:extLst>
          </p:cNvPr>
          <p:cNvSpPr/>
          <p:nvPr/>
        </p:nvSpPr>
        <p:spPr>
          <a:xfrm rot="10800000">
            <a:off x="4558818" y="4093940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7E0F9BE-5EF6-5D08-ABE5-98F5C7FE83C1}"/>
              </a:ext>
            </a:extLst>
          </p:cNvPr>
          <p:cNvSpPr/>
          <p:nvPr/>
        </p:nvSpPr>
        <p:spPr>
          <a:xfrm>
            <a:off x="5153360" y="4000295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/>
              <a:t>0.9~1.05pu</a:t>
            </a:r>
            <a:r>
              <a:rPr kumimoji="1" lang="ko-KR" altLang="en-US" sz="1500"/>
              <a:t> 밖의 값은</a:t>
            </a:r>
            <a:endParaRPr kumimoji="1" lang="en-US" altLang="ko-KR" sz="1500"/>
          </a:p>
          <a:p>
            <a:pPr algn="ctr"/>
            <a:r>
              <a:rPr kumimoji="1" lang="en-US" altLang="ko-KR" sz="1500"/>
              <a:t>10e8</a:t>
            </a:r>
            <a:r>
              <a:rPr kumimoji="1" lang="ko-KR" altLang="en-US" sz="1500"/>
              <a:t>의</a:t>
            </a:r>
            <a:r>
              <a:rPr kumimoji="1" lang="en-US" altLang="ko-KR" sz="1500"/>
              <a:t> </a:t>
            </a:r>
            <a:r>
              <a:rPr kumimoji="1" lang="ko-KR" altLang="en-US" sz="1500"/>
              <a:t>큰 페널티 부여</a:t>
            </a:r>
            <a:endParaRPr kumimoji="1" lang="ko-Kore-KR" altLang="en-US" sz="1500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802FAD4F-E8CD-BA06-F090-6F0249406542}"/>
              </a:ext>
            </a:extLst>
          </p:cNvPr>
          <p:cNvSpPr/>
          <p:nvPr/>
        </p:nvSpPr>
        <p:spPr>
          <a:xfrm rot="10800000">
            <a:off x="4558818" y="5279571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F15DE60-F649-1347-C24A-1840E91BDBF7}"/>
              </a:ext>
            </a:extLst>
          </p:cNvPr>
          <p:cNvSpPr/>
          <p:nvPr/>
        </p:nvSpPr>
        <p:spPr>
          <a:xfrm>
            <a:off x="5153360" y="5185926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500"/>
              <a:t>0.9pu</a:t>
            </a:r>
            <a:r>
              <a:rPr kumimoji="1" lang="ko-KR" altLang="en-US" sz="1500" err="1"/>
              <a:t>에</a:t>
            </a:r>
            <a:r>
              <a:rPr kumimoji="1" lang="ko-KR" altLang="en-US" sz="1500"/>
              <a:t> 가까울 수록 소폭의 보상 제공</a:t>
            </a:r>
            <a:endParaRPr kumimoji="1" lang="ko-Kore-KR" altLang="en-US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98A16C-8819-6C30-8E09-94933E916BBF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CODE </a:t>
            </a:r>
            <a:r>
              <a:rPr lang="ko-KR" altLang="en-US" sz="2600" b="1" spc="-80">
                <a:solidFill>
                  <a:srgbClr val="004C86"/>
                </a:solidFill>
              </a:rPr>
              <a:t>구현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en-US" altLang="ko-KR" sz="2000" b="1" spc="-80">
                <a:solidFill>
                  <a:srgbClr val="004C86"/>
                </a:solidFill>
              </a:rPr>
              <a:t>(DE</a:t>
            </a:r>
            <a:r>
              <a:rPr lang="ko-KR" altLang="en-US" sz="2000" b="1" spc="-80">
                <a:solidFill>
                  <a:srgbClr val="004C86"/>
                </a:solidFill>
              </a:rPr>
              <a:t> 알고리즘</a:t>
            </a:r>
            <a:r>
              <a:rPr lang="en-US" altLang="ko-KR" sz="2000" b="1" spc="-80">
                <a:solidFill>
                  <a:srgbClr val="004C86"/>
                </a:solidFill>
              </a:rPr>
              <a:t>-</a:t>
            </a:r>
            <a:r>
              <a:rPr lang="ko-KR" altLang="en-US" sz="2000" b="1" spc="-80">
                <a:solidFill>
                  <a:srgbClr val="004C86"/>
                </a:solidFill>
              </a:rPr>
              <a:t>비용함수</a:t>
            </a:r>
            <a:r>
              <a:rPr lang="en-US" altLang="ko-KR" sz="20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48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73"/>
    </mc:Choice>
    <mc:Fallback xmlns="">
      <p:transition spd="slow" advTm="249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0F346-73A0-7ABD-C4DE-6FEF41F0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E05F8B9-70A6-A9BA-D1CA-AB3AEE2F8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520" y="903643"/>
            <a:ext cx="8568952" cy="5678731"/>
          </a:xfrm>
          <a:prstGeom prst="rect">
            <a:avLst/>
          </a:prstGeom>
        </p:spPr>
      </p:pic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D988268B-95BE-70FB-8BC6-024506726338}"/>
              </a:ext>
            </a:extLst>
          </p:cNvPr>
          <p:cNvSpPr/>
          <p:nvPr/>
        </p:nvSpPr>
        <p:spPr>
          <a:xfrm rot="10800000">
            <a:off x="4558818" y="1926074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C77F07B2-9D3B-F53C-4672-5372DC97979E}"/>
              </a:ext>
            </a:extLst>
          </p:cNvPr>
          <p:cNvSpPr/>
          <p:nvPr/>
        </p:nvSpPr>
        <p:spPr>
          <a:xfrm>
            <a:off x="5153360" y="1832429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500">
                <a:latin typeface="+mn-ea"/>
              </a:rPr>
              <a:t>Input</a:t>
            </a:r>
            <a:r>
              <a:rPr kumimoji="1" lang="ko-KR" altLang="en-US" sz="1500">
                <a:latin typeface="+mn-ea"/>
              </a:rPr>
              <a:t>이 없는 함수로써 최적해 </a:t>
            </a:r>
            <a:r>
              <a:rPr kumimoji="1" lang="ko-KR" altLang="en-US" sz="1500" err="1">
                <a:latin typeface="+mn-ea"/>
              </a:rPr>
              <a:t>실행단</a:t>
            </a:r>
            <a:endParaRPr kumimoji="1" lang="ko-Kore-KR" altLang="en-US" sz="1500">
              <a:latin typeface="+mn-ea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58938CC6-CF41-ACF5-1514-4286783CCCC1}"/>
              </a:ext>
            </a:extLst>
          </p:cNvPr>
          <p:cNvSpPr/>
          <p:nvPr/>
        </p:nvSpPr>
        <p:spPr>
          <a:xfrm rot="10800000">
            <a:off x="4558818" y="3883123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38946CF-68E1-23C0-2CC6-0B243CF3001F}"/>
              </a:ext>
            </a:extLst>
          </p:cNvPr>
          <p:cNvSpPr/>
          <p:nvPr/>
        </p:nvSpPr>
        <p:spPr>
          <a:xfrm>
            <a:off x="5153360" y="3789478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500"/>
              <a:t>Local Minimum</a:t>
            </a:r>
            <a:r>
              <a:rPr kumimoji="1" lang="ko-KR" altLang="en-US" sz="1500" err="1"/>
              <a:t>에</a:t>
            </a:r>
            <a:r>
              <a:rPr kumimoji="1" lang="ko-KR" altLang="en-US" sz="1500"/>
              <a:t> 빠졌을 때 조기종료</a:t>
            </a:r>
            <a:endParaRPr kumimoji="1" lang="ko-Kore-KR" altLang="en-US" sz="1500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9B332B36-AC6A-5068-F2D6-7C8F015E2C00}"/>
              </a:ext>
            </a:extLst>
          </p:cNvPr>
          <p:cNvSpPr/>
          <p:nvPr/>
        </p:nvSpPr>
        <p:spPr>
          <a:xfrm rot="10800000">
            <a:off x="4558818" y="5724836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87B796F-9743-035A-75ED-16DF27A33DE8}"/>
              </a:ext>
            </a:extLst>
          </p:cNvPr>
          <p:cNvSpPr/>
          <p:nvPr/>
        </p:nvSpPr>
        <p:spPr>
          <a:xfrm>
            <a:off x="5153360" y="5631191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/>
              <a:t>각 버스의 </a:t>
            </a:r>
            <a:r>
              <a:rPr kumimoji="1" lang="ko-KR" altLang="en-US" sz="1500" err="1"/>
              <a:t>커패시터</a:t>
            </a:r>
            <a:r>
              <a:rPr kumimoji="1" lang="ko-KR" altLang="en-US" sz="1500"/>
              <a:t> 설치조건 설정</a:t>
            </a:r>
            <a:endParaRPr kumimoji="1" lang="ko-Kore-KR" altLang="en-US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58713-6535-432C-7C6E-D39A514EEA27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CODE </a:t>
            </a:r>
            <a:r>
              <a:rPr lang="ko-KR" altLang="en-US" sz="2600" b="1" spc="-80">
                <a:solidFill>
                  <a:srgbClr val="004C86"/>
                </a:solidFill>
              </a:rPr>
              <a:t>구현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en-US" altLang="ko-KR" sz="2000" b="1" spc="-80">
                <a:solidFill>
                  <a:srgbClr val="004C86"/>
                </a:solidFill>
              </a:rPr>
              <a:t>(DE</a:t>
            </a:r>
            <a:r>
              <a:rPr lang="ko-KR" altLang="en-US" sz="2000" b="1" spc="-80">
                <a:solidFill>
                  <a:srgbClr val="004C86"/>
                </a:solidFill>
              </a:rPr>
              <a:t> 알고리즘</a:t>
            </a:r>
            <a:r>
              <a:rPr lang="en-US" altLang="ko-KR" sz="2000" b="1" spc="-80">
                <a:solidFill>
                  <a:srgbClr val="004C86"/>
                </a:solidFill>
              </a:rPr>
              <a:t>-OPTIMIZE1)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989FBA5-4238-E536-CB1E-94837B01A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15" y="1496340"/>
            <a:ext cx="927100" cy="254000"/>
          </a:xfrm>
          <a:prstGeom prst="rect">
            <a:avLst/>
          </a:prstGeom>
        </p:spPr>
      </p:pic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198A29EB-A2A9-6A6A-9154-3B6EBCC73422}"/>
              </a:ext>
            </a:extLst>
          </p:cNvPr>
          <p:cNvSpPr/>
          <p:nvPr/>
        </p:nvSpPr>
        <p:spPr>
          <a:xfrm rot="10800000">
            <a:off x="4558818" y="2645994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E13958C-E16B-D392-CFF2-F38609C8F28E}"/>
              </a:ext>
            </a:extLst>
          </p:cNvPr>
          <p:cNvSpPr/>
          <p:nvPr/>
        </p:nvSpPr>
        <p:spPr>
          <a:xfrm>
            <a:off x="5153360" y="2552349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/>
              <a:t>개선여부를 저장하고 넘겨주는 변수</a:t>
            </a:r>
            <a:endParaRPr kumimoji="1" lang="ko-Kore-KR" altLang="en-US" sz="1500"/>
          </a:p>
        </p:txBody>
      </p:sp>
    </p:spTree>
    <p:extLst>
      <p:ext uri="{BB962C8B-B14F-4D97-AF65-F5344CB8AC3E}">
        <p14:creationId xmlns:p14="http://schemas.microsoft.com/office/powerpoint/2010/main" val="35313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93"/>
    </mc:Choice>
    <mc:Fallback xmlns="">
      <p:transition spd="slow" advTm="1279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B8D6B-BE22-26B5-D643-4D4784CA7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B971259-7B3C-EE2C-59D3-EA7FE472F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679" y="836712"/>
            <a:ext cx="4990719" cy="588733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46E7076-31C9-6B68-7A0C-10ECB742B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1273773"/>
            <a:ext cx="927100" cy="254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D8FCC487-3762-5F81-676D-1E2E0DF6B9BD}"/>
              </a:ext>
            </a:extLst>
          </p:cNvPr>
          <p:cNvGrpSpPr/>
          <p:nvPr/>
        </p:nvGrpSpPr>
        <p:grpSpPr>
          <a:xfrm>
            <a:off x="4067945" y="1879416"/>
            <a:ext cx="4261653" cy="646332"/>
            <a:chOff x="4067945" y="1879416"/>
            <a:chExt cx="4261653" cy="646332"/>
          </a:xfrm>
        </p:grpSpPr>
        <p:sp>
          <p:nvSpPr>
            <p:cNvPr id="5" name="오른쪽 화살표[R] 4">
              <a:extLst>
                <a:ext uri="{FF2B5EF4-FFF2-40B4-BE49-F238E27FC236}">
                  <a16:creationId xmlns:a16="http://schemas.microsoft.com/office/drawing/2014/main" id="{E3B4AB69-BB07-888C-CCF2-09C229B2F48B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409E7FA0-72F9-A63F-3507-6ED78DC5FFA1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1500">
                  <a:latin typeface="+mn-ea"/>
                </a:rPr>
                <a:t>DE </a:t>
              </a:r>
              <a:r>
                <a:rPr kumimoji="1" lang="ko-KR" altLang="en-US" sz="1500">
                  <a:latin typeface="+mn-ea"/>
                </a:rPr>
                <a:t>모델 탐색 </a:t>
              </a:r>
              <a:r>
                <a:rPr kumimoji="1" lang="en-US" altLang="ko-KR" sz="1500">
                  <a:latin typeface="+mn-ea"/>
                </a:rPr>
                <a:t>Parameter</a:t>
              </a:r>
              <a:r>
                <a:rPr kumimoji="1" lang="ko-KR" altLang="en-US" sz="1500">
                  <a:latin typeface="+mn-ea"/>
                </a:rPr>
                <a:t>와 함께</a:t>
              </a:r>
              <a:br>
                <a:rPr kumimoji="1" lang="en-US" altLang="ko-KR" sz="1500">
                  <a:latin typeface="+mn-ea"/>
                </a:rPr>
              </a:br>
              <a:r>
                <a:rPr kumimoji="1" lang="ko-KR" altLang="en-US" sz="1500" b="1">
                  <a:latin typeface="+mn-ea"/>
                </a:rPr>
                <a:t>최적화 </a:t>
              </a:r>
              <a:r>
                <a:rPr kumimoji="1" lang="ko-KR" altLang="en-US" sz="1500" b="1" err="1">
                  <a:latin typeface="+mn-ea"/>
                </a:rPr>
                <a:t>실행단</a:t>
              </a:r>
              <a:endParaRPr kumimoji="1" lang="ko-Kore-KR" altLang="en-US" sz="1500" b="1">
                <a:latin typeface="+mn-ea"/>
              </a:endParaRPr>
            </a:p>
          </p:txBody>
        </p:sp>
      </p:grp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4B663369-21D2-774A-63BE-78D72701FA36}"/>
              </a:ext>
            </a:extLst>
          </p:cNvPr>
          <p:cNvSpPr/>
          <p:nvPr/>
        </p:nvSpPr>
        <p:spPr>
          <a:xfrm rot="10800000">
            <a:off x="4067945" y="4093940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8DC59E5-EFF4-0578-D112-B3F29D1B2AF7}"/>
              </a:ext>
            </a:extLst>
          </p:cNvPr>
          <p:cNvSpPr/>
          <p:nvPr/>
        </p:nvSpPr>
        <p:spPr>
          <a:xfrm>
            <a:off x="4662487" y="4000295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/>
              <a:t>계산한 최적해 적용 및 </a:t>
            </a:r>
            <a:r>
              <a:rPr kumimoji="1" lang="ko-KR" altLang="en-US" sz="1500" err="1"/>
              <a:t>해석단</a:t>
            </a:r>
            <a:endParaRPr kumimoji="1" lang="ko-Kore-KR" altLang="en-US" sz="1500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02C00210-1B32-DFB9-E714-62C128087A99}"/>
              </a:ext>
            </a:extLst>
          </p:cNvPr>
          <p:cNvSpPr/>
          <p:nvPr/>
        </p:nvSpPr>
        <p:spPr>
          <a:xfrm rot="10800000">
            <a:off x="4067945" y="5279571"/>
            <a:ext cx="927099" cy="431263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F22AE9C-FF7C-2D58-894A-94891E4A31E4}"/>
              </a:ext>
            </a:extLst>
          </p:cNvPr>
          <p:cNvSpPr/>
          <p:nvPr/>
        </p:nvSpPr>
        <p:spPr>
          <a:xfrm>
            <a:off x="4662487" y="5185926"/>
            <a:ext cx="3667111" cy="646332"/>
          </a:xfrm>
          <a:prstGeom prst="roundRect">
            <a:avLst>
              <a:gd name="adj" fmla="val 8425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/>
              <a:t>결과 </a:t>
            </a:r>
            <a:r>
              <a:rPr kumimoji="1" lang="ko-KR" altLang="en-US" sz="1500" err="1"/>
              <a:t>출력단</a:t>
            </a:r>
            <a:endParaRPr kumimoji="1" lang="ko-Kore-KR" altLang="en-US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E1B9D-9467-12F0-C596-01A05F3FE5E4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CODE </a:t>
            </a:r>
            <a:r>
              <a:rPr lang="ko-KR" altLang="en-US" sz="2600" b="1" spc="-80">
                <a:solidFill>
                  <a:srgbClr val="004C86"/>
                </a:solidFill>
              </a:rPr>
              <a:t>구현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en-US" altLang="ko-KR" sz="2000" b="1" spc="-80">
                <a:solidFill>
                  <a:srgbClr val="004C86"/>
                </a:solidFill>
              </a:rPr>
              <a:t>(DE</a:t>
            </a:r>
            <a:r>
              <a:rPr lang="ko-KR" altLang="en-US" sz="2000" b="1" spc="-80">
                <a:solidFill>
                  <a:srgbClr val="004C86"/>
                </a:solidFill>
              </a:rPr>
              <a:t> 알고리즘</a:t>
            </a:r>
            <a:r>
              <a:rPr lang="en-US" altLang="ko-KR" sz="2000" b="1" spc="-80">
                <a:solidFill>
                  <a:srgbClr val="004C86"/>
                </a:solidFill>
              </a:rPr>
              <a:t>-OPTIMIZE2)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90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7"/>
    </mc:Choice>
    <mc:Fallback xmlns="">
      <p:transition spd="slow" advTm="216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11DCB-7E3A-5383-3A69-46405A33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36CD212-4E19-E1EE-FDA9-B9328C64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3151" y="687808"/>
            <a:ext cx="3660044" cy="3916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6D05D3-BB61-3525-66EB-5663BC2753DF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DE </a:t>
            </a:r>
            <a:r>
              <a:rPr lang="ko-KR" altLang="en-US" sz="2600" b="1" spc="-80">
                <a:solidFill>
                  <a:srgbClr val="004C86"/>
                </a:solidFill>
              </a:rPr>
              <a:t>알고리즘</a:t>
            </a:r>
            <a:r>
              <a:rPr lang="en-US" altLang="ko-KR" sz="2600" b="1" spc="-80">
                <a:solidFill>
                  <a:srgbClr val="004C86"/>
                </a:solidFill>
              </a:rPr>
              <a:t> </a:t>
            </a:r>
            <a:r>
              <a:rPr lang="ko-KR" altLang="en-US" sz="2600" b="1" spc="-80">
                <a:solidFill>
                  <a:srgbClr val="004C86"/>
                </a:solidFill>
              </a:rPr>
              <a:t>결과 분석 </a:t>
            </a:r>
            <a:r>
              <a:rPr lang="en-US" altLang="ko-KR" sz="1600" b="1" spc="-80">
                <a:solidFill>
                  <a:srgbClr val="004C86"/>
                </a:solidFill>
              </a:rPr>
              <a:t>(</a:t>
            </a:r>
            <a:r>
              <a:rPr lang="ko-KR" altLang="en-US" sz="1600" b="1" spc="-80">
                <a:solidFill>
                  <a:srgbClr val="004C86"/>
                </a:solidFill>
              </a:rPr>
              <a:t>파라미터 중심</a:t>
            </a:r>
            <a:r>
              <a:rPr lang="en-US" altLang="ko-KR" sz="1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679754-FAA7-34BF-0DAB-BCC7D2152A9C}"/>
              </a:ext>
            </a:extLst>
          </p:cNvPr>
          <p:cNvSpPr txBox="1"/>
          <p:nvPr/>
        </p:nvSpPr>
        <p:spPr>
          <a:xfrm>
            <a:off x="12877" y="4149080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Total Cost: </a:t>
            </a:r>
            <a:r>
              <a:rPr lang="en-US" altLang="ko-KR" sz="1800" b="1" i="0">
                <a:solidFill>
                  <a:srgbClr val="004C86"/>
                </a:solidFill>
                <a:effectLst/>
                <a:latin typeface="+mn-ea"/>
              </a:rPr>
              <a:t>50,726.93</a:t>
            </a:r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 USD</a:t>
            </a:r>
            <a:endParaRPr lang="ko-Kore-KR" altLang="en-US" b="1">
              <a:solidFill>
                <a:srgbClr val="004C86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F113F6-85B0-B07C-940F-DE9244D6F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426" y="687808"/>
            <a:ext cx="3769209" cy="38540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91942-AD58-7CE1-BF14-F32ED554CCFC}"/>
              </a:ext>
            </a:extLst>
          </p:cNvPr>
          <p:cNvSpPr txBox="1"/>
          <p:nvPr/>
        </p:nvSpPr>
        <p:spPr>
          <a:xfrm>
            <a:off x="3099589" y="4149080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Total Cost: 4,</a:t>
            </a:r>
            <a:r>
              <a:rPr lang="en-US" altLang="ko-KR" sz="1800" b="1" i="0">
                <a:solidFill>
                  <a:srgbClr val="004C86"/>
                </a:solidFill>
                <a:effectLst/>
                <a:latin typeface="+mn-ea"/>
              </a:rPr>
              <a:t>692.27</a:t>
            </a:r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 USD</a:t>
            </a:r>
            <a:endParaRPr lang="ko-Kore-KR" altLang="en-US" b="1">
              <a:solidFill>
                <a:srgbClr val="004C86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ABEA96-7CDC-4DBF-7A70-084B7AC10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26381"/>
              </p:ext>
            </p:extLst>
          </p:nvPr>
        </p:nvGraphicFramePr>
        <p:xfrm>
          <a:off x="3174922" y="4518412"/>
          <a:ext cx="2798457" cy="1874520"/>
        </p:xfrm>
        <a:graphic>
          <a:graphicData uri="http://schemas.openxmlformats.org/drawingml/2006/table">
            <a:tbl>
              <a:tblPr/>
              <a:tblGrid>
                <a:gridCol w="589170">
                  <a:extLst>
                    <a:ext uri="{9D8B030D-6E8A-4147-A177-3AD203B41FA5}">
                      <a16:colId xmlns:a16="http://schemas.microsoft.com/office/drawing/2014/main" val="747198936"/>
                    </a:ext>
                  </a:extLst>
                </a:gridCol>
                <a:gridCol w="1276468">
                  <a:extLst>
                    <a:ext uri="{9D8B030D-6E8A-4147-A177-3AD203B41FA5}">
                      <a16:colId xmlns:a16="http://schemas.microsoft.com/office/drawing/2014/main" val="377468794"/>
                    </a:ext>
                  </a:extLst>
                </a:gridCol>
                <a:gridCol w="932819">
                  <a:extLst>
                    <a:ext uri="{9D8B030D-6E8A-4147-A177-3AD203B41FA5}">
                      <a16:colId xmlns:a16="http://schemas.microsoft.com/office/drawing/2014/main" val="137611158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solidFill>
                            <a:schemeClr val="bg1"/>
                          </a:solidFill>
                          <a:effectLst/>
                        </a:rPr>
                        <a:t>BUS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ore-KR" altLang="en-US">
                          <a:solidFill>
                            <a:schemeClr val="bg1"/>
                          </a:solidFill>
                          <a:effectLst/>
                        </a:rPr>
                        <a:t>커패시터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비용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789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7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298.2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915.32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423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8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698.4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1243.4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8405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29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215.2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826.26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602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3</a:t>
                      </a:r>
                      <a:r>
                        <a:rPr lang="en-US" altLang="ko-KR">
                          <a:effectLst/>
                        </a:rPr>
                        <a:t>1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157.7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828.26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222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33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1182.6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842.93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73807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C20096D-1212-2CE2-7E50-8CE4C813D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1894" y="712334"/>
            <a:ext cx="3769210" cy="38540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B8A226-D07D-09A7-6BEC-CFBB2325C27B}"/>
              </a:ext>
            </a:extLst>
          </p:cNvPr>
          <p:cNvSpPr txBox="1"/>
          <p:nvPr/>
        </p:nvSpPr>
        <p:spPr>
          <a:xfrm>
            <a:off x="6101873" y="4149080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Total Cost: 4,</a:t>
            </a:r>
            <a:r>
              <a:rPr lang="en-US" altLang="ko-KR" sz="1800" b="1" i="0">
                <a:solidFill>
                  <a:srgbClr val="004C86"/>
                </a:solidFill>
                <a:effectLst/>
                <a:latin typeface="+mn-ea"/>
              </a:rPr>
              <a:t>496.47</a:t>
            </a:r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 USD</a:t>
            </a:r>
            <a:endParaRPr lang="ko-Kore-KR" altLang="en-US" b="1">
              <a:solidFill>
                <a:srgbClr val="004C86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D345086-2CF5-777B-85AC-645DA6CE7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03925"/>
              </p:ext>
            </p:extLst>
          </p:nvPr>
        </p:nvGraphicFramePr>
        <p:xfrm>
          <a:off x="6201999" y="4518412"/>
          <a:ext cx="2798457" cy="1874520"/>
        </p:xfrm>
        <a:graphic>
          <a:graphicData uri="http://schemas.openxmlformats.org/drawingml/2006/table">
            <a:tbl>
              <a:tblPr/>
              <a:tblGrid>
                <a:gridCol w="589170">
                  <a:extLst>
                    <a:ext uri="{9D8B030D-6E8A-4147-A177-3AD203B41FA5}">
                      <a16:colId xmlns:a16="http://schemas.microsoft.com/office/drawing/2014/main" val="747198936"/>
                    </a:ext>
                  </a:extLst>
                </a:gridCol>
                <a:gridCol w="1276468">
                  <a:extLst>
                    <a:ext uri="{9D8B030D-6E8A-4147-A177-3AD203B41FA5}">
                      <a16:colId xmlns:a16="http://schemas.microsoft.com/office/drawing/2014/main" val="377468794"/>
                    </a:ext>
                  </a:extLst>
                </a:gridCol>
                <a:gridCol w="932819">
                  <a:extLst>
                    <a:ext uri="{9D8B030D-6E8A-4147-A177-3AD203B41FA5}">
                      <a16:colId xmlns:a16="http://schemas.microsoft.com/office/drawing/2014/main" val="137611158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solidFill>
                            <a:schemeClr val="bg1"/>
                          </a:solidFill>
                          <a:effectLst/>
                        </a:rPr>
                        <a:t>BUS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ore-KR" altLang="en-US">
                          <a:solidFill>
                            <a:schemeClr val="bg1"/>
                          </a:solidFill>
                          <a:effectLst/>
                        </a:rPr>
                        <a:t>커패시터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비용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789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5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1046.4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770.52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423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</a:t>
                      </a:r>
                      <a:r>
                        <a:rPr lang="en-US" altLang="ko-KR">
                          <a:effectLst/>
                        </a:rPr>
                        <a:t>6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1028.4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761.98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8405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18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1459.6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1033.16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602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32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1361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958.84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222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33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1379.1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971.97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73807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84C6395-C7E3-FB84-FAF8-EE44B767B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084604"/>
              </p:ext>
            </p:extLst>
          </p:nvPr>
        </p:nvGraphicFramePr>
        <p:xfrm>
          <a:off x="166251" y="4518412"/>
          <a:ext cx="2798457" cy="1731912"/>
        </p:xfrm>
        <a:graphic>
          <a:graphicData uri="http://schemas.openxmlformats.org/drawingml/2006/table">
            <a:tbl>
              <a:tblPr/>
              <a:tblGrid>
                <a:gridCol w="589170">
                  <a:extLst>
                    <a:ext uri="{9D8B030D-6E8A-4147-A177-3AD203B41FA5}">
                      <a16:colId xmlns:a16="http://schemas.microsoft.com/office/drawing/2014/main" val="747198936"/>
                    </a:ext>
                  </a:extLst>
                </a:gridCol>
                <a:gridCol w="1276468">
                  <a:extLst>
                    <a:ext uri="{9D8B030D-6E8A-4147-A177-3AD203B41FA5}">
                      <a16:colId xmlns:a16="http://schemas.microsoft.com/office/drawing/2014/main" val="377468794"/>
                    </a:ext>
                  </a:extLst>
                </a:gridCol>
                <a:gridCol w="932819">
                  <a:extLst>
                    <a:ext uri="{9D8B030D-6E8A-4147-A177-3AD203B41FA5}">
                      <a16:colId xmlns:a16="http://schemas.microsoft.com/office/drawing/2014/main" val="1376111587"/>
                    </a:ext>
                  </a:extLst>
                </a:gridCol>
              </a:tblGrid>
              <a:tr h="278740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solidFill>
                            <a:schemeClr val="bg1"/>
                          </a:solidFill>
                          <a:effectLst/>
                        </a:rPr>
                        <a:t>BUS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ore-KR" altLang="en-US">
                          <a:solidFill>
                            <a:schemeClr val="bg1"/>
                          </a:solidFill>
                          <a:effectLst/>
                        </a:rPr>
                        <a:t>커패시터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비용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78925"/>
                  </a:ext>
                </a:extLst>
              </a:tr>
              <a:tr h="1419492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ko-Kore-KR" altLang="en-US" b="1">
                          <a:effectLst/>
                        </a:rPr>
                        <a:t>너무 큰 비용</a:t>
                      </a:r>
                      <a:endParaRPr lang="en-US" altLang="ko-Kore-KR" b="1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42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68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07"/>
    </mc:Choice>
    <mc:Fallback xmlns="">
      <p:transition spd="slow" advTm="1740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AAC7C-CEFC-A639-0447-3E54B258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E7D7A3-62F8-1EA3-13F1-A655EC53CF63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</a:t>
            </a:r>
            <a:r>
              <a:rPr lang="en-US" altLang="ko-KR" sz="2600" b="1" spc="-80">
                <a:solidFill>
                  <a:srgbClr val="004C86"/>
                </a:solidFill>
              </a:rPr>
              <a:t>DE </a:t>
            </a:r>
            <a:r>
              <a:rPr lang="ko-KR" altLang="en-US" sz="2600" b="1" spc="-80">
                <a:solidFill>
                  <a:srgbClr val="004C86"/>
                </a:solidFill>
              </a:rPr>
              <a:t>알고리즘 결과와 분석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13EFC00-9498-962B-E78D-CDA64B487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4098"/>
            <a:ext cx="3807622" cy="38932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C7C8CC-AE5B-16CA-2017-93B335026813}"/>
              </a:ext>
            </a:extLst>
          </p:cNvPr>
          <p:cNvSpPr txBox="1"/>
          <p:nvPr/>
        </p:nvSpPr>
        <p:spPr>
          <a:xfrm>
            <a:off x="391643" y="4339800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Total Cost: 4,273.06 USD</a:t>
            </a:r>
            <a:endParaRPr lang="ko-Kore-KR" altLang="en-US" b="1">
              <a:solidFill>
                <a:srgbClr val="004C86"/>
              </a:solidFill>
              <a:latin typeface="+mn-ea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BFF34CC-6BE5-71C8-5E19-89438803D2B1}"/>
              </a:ext>
            </a:extLst>
          </p:cNvPr>
          <p:cNvGraphicFramePr>
            <a:graphicFrameLocks noGrp="1"/>
          </p:cNvGraphicFramePr>
          <p:nvPr/>
        </p:nvGraphicFramePr>
        <p:xfrm>
          <a:off x="504582" y="4758178"/>
          <a:ext cx="2798457" cy="1562100"/>
        </p:xfrm>
        <a:graphic>
          <a:graphicData uri="http://schemas.openxmlformats.org/drawingml/2006/table">
            <a:tbl>
              <a:tblPr/>
              <a:tblGrid>
                <a:gridCol w="589170">
                  <a:extLst>
                    <a:ext uri="{9D8B030D-6E8A-4147-A177-3AD203B41FA5}">
                      <a16:colId xmlns:a16="http://schemas.microsoft.com/office/drawing/2014/main" val="747198936"/>
                    </a:ext>
                  </a:extLst>
                </a:gridCol>
                <a:gridCol w="1276468">
                  <a:extLst>
                    <a:ext uri="{9D8B030D-6E8A-4147-A177-3AD203B41FA5}">
                      <a16:colId xmlns:a16="http://schemas.microsoft.com/office/drawing/2014/main" val="377468794"/>
                    </a:ext>
                  </a:extLst>
                </a:gridCol>
                <a:gridCol w="932819">
                  <a:extLst>
                    <a:ext uri="{9D8B030D-6E8A-4147-A177-3AD203B41FA5}">
                      <a16:colId xmlns:a16="http://schemas.microsoft.com/office/drawing/2014/main" val="137611158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solidFill>
                            <a:schemeClr val="bg1"/>
                          </a:solidFill>
                          <a:effectLst/>
                        </a:rPr>
                        <a:t>BUS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ore-KR" altLang="en-US">
                          <a:solidFill>
                            <a:schemeClr val="bg1"/>
                          </a:solidFill>
                          <a:effectLst/>
                        </a:rPr>
                        <a:t>커패시터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</a:rPr>
                        <a:t>비용</a:t>
                      </a:r>
                      <a:endParaRPr lang="en-US" altLang="ko-Kore-KR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789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1615.5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R">
                          <a:effectLst/>
                        </a:rPr>
                        <a:t>1165.55</a:t>
                      </a:r>
                      <a:endParaRPr lang="en-US" altLang="ko-Kore-KR"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423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1544.8 0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1103.30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8405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32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1427.3 0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1008.04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602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1411.7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ko-Kore-KR">
                          <a:effectLst/>
                        </a:rPr>
                        <a:t>996.17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2221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BB97166-E70B-98B0-7411-01338670296B}"/>
              </a:ext>
            </a:extLst>
          </p:cNvPr>
          <p:cNvSpPr txBox="1"/>
          <p:nvPr/>
        </p:nvSpPr>
        <p:spPr>
          <a:xfrm>
            <a:off x="281683" y="1065658"/>
            <a:ext cx="3244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>
                <a:solidFill>
                  <a:srgbClr val="004C86"/>
                </a:solidFill>
                <a:effectLst/>
                <a:latin typeface="+mn-ea"/>
              </a:rPr>
              <a:t>100</a:t>
            </a:r>
            <a:r>
              <a:rPr lang="ko-KR" altLang="en-US" sz="1800" b="1" i="0">
                <a:solidFill>
                  <a:srgbClr val="004C86"/>
                </a:solidFill>
                <a:effectLst/>
                <a:latin typeface="+mn-ea"/>
              </a:rPr>
              <a:t>번이 넘는 시도 중 최적해</a:t>
            </a:r>
            <a:endParaRPr lang="ko-Kore-KR" altLang="en-US" b="1">
              <a:solidFill>
                <a:srgbClr val="004C86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1789E-CCC4-4EB2-60C2-A26BB3A43CD1}"/>
              </a:ext>
            </a:extLst>
          </p:cNvPr>
          <p:cNvSpPr txBox="1"/>
          <p:nvPr/>
        </p:nvSpPr>
        <p:spPr>
          <a:xfrm>
            <a:off x="3822803" y="1556792"/>
            <a:ext cx="4998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1800" i="0">
                <a:solidFill>
                  <a:srgbClr val="004C86"/>
                </a:solidFill>
                <a:effectLst/>
                <a:latin typeface="+mn-ea"/>
              </a:rPr>
              <a:t>커패시터 설치 </a:t>
            </a:r>
            <a:r>
              <a:rPr lang="ko-Kore-KR" altLang="en-US" sz="1800" b="1" i="0">
                <a:solidFill>
                  <a:srgbClr val="004C86"/>
                </a:solidFill>
                <a:effectLst/>
                <a:latin typeface="+mn-ea"/>
              </a:rPr>
              <a:t>위치 탐색성능</a:t>
            </a:r>
            <a:r>
              <a:rPr lang="ko-Kore-KR" altLang="en-US" sz="1800" i="0">
                <a:solidFill>
                  <a:srgbClr val="004C86"/>
                </a:solidFill>
                <a:effectLst/>
                <a:latin typeface="+mn-ea"/>
              </a:rPr>
              <a:t> 좋음</a:t>
            </a:r>
            <a:endParaRPr lang="en-US" altLang="ko-Kore-KR" sz="1800" i="0">
              <a:solidFill>
                <a:srgbClr val="004C86"/>
              </a:solidFill>
              <a:effectLst/>
              <a:latin typeface="+mn-ea"/>
            </a:endParaRPr>
          </a:p>
          <a:p>
            <a:r>
              <a:rPr lang="en-US" altLang="ko-Kore-KR" sz="1800" i="0">
                <a:solidFill>
                  <a:srgbClr val="004C86"/>
                </a:solidFill>
                <a:effectLst/>
                <a:latin typeface="+mn-ea"/>
              </a:rPr>
              <a:t>0</a:t>
            </a:r>
            <a:r>
              <a:rPr lang="en-US" altLang="ko-KR" sz="1800" i="0">
                <a:solidFill>
                  <a:srgbClr val="004C86"/>
                </a:solidFill>
                <a:effectLst/>
                <a:latin typeface="+mn-ea"/>
              </a:rPr>
              <a:t>.9pu</a:t>
            </a:r>
            <a:r>
              <a:rPr lang="ko-KR" altLang="en-US" sz="1800" i="0">
                <a:solidFill>
                  <a:srgbClr val="004C86"/>
                </a:solidFill>
                <a:effectLst/>
                <a:latin typeface="+mn-ea"/>
              </a:rPr>
              <a:t>라는 특정 목표에 </a:t>
            </a:r>
            <a:r>
              <a:rPr lang="ko-KR" altLang="en-US" sz="1800" b="1" i="0">
                <a:solidFill>
                  <a:srgbClr val="004C86"/>
                </a:solidFill>
                <a:effectLst/>
                <a:latin typeface="+mn-ea"/>
              </a:rPr>
              <a:t>빠른 수렴</a:t>
            </a:r>
            <a:endParaRPr lang="en-US" altLang="ko-KR" sz="1800" b="1" i="0">
              <a:solidFill>
                <a:srgbClr val="004C86"/>
              </a:solidFill>
              <a:effectLst/>
              <a:latin typeface="+mn-ea"/>
            </a:endParaRPr>
          </a:p>
          <a:p>
            <a:r>
              <a:rPr lang="ko-KR" altLang="en-US">
                <a:solidFill>
                  <a:srgbClr val="004C86"/>
                </a:solidFill>
                <a:latin typeface="+mn-ea"/>
              </a:rPr>
              <a:t>파이썬 자체의 빠른 연산속도</a:t>
            </a:r>
            <a:endParaRPr lang="ko-Kore-KR" altLang="en-US">
              <a:solidFill>
                <a:srgbClr val="004C86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E5BAB-CA94-5B9E-2957-DA45800E2FD2}"/>
              </a:ext>
            </a:extLst>
          </p:cNvPr>
          <p:cNvSpPr txBox="1"/>
          <p:nvPr/>
        </p:nvSpPr>
        <p:spPr>
          <a:xfrm>
            <a:off x="3822804" y="2606132"/>
            <a:ext cx="3807622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ko-Kore-KR" altLang="en-US" sz="5400" b="1">
                <a:solidFill>
                  <a:srgbClr val="004C86"/>
                </a:solidFill>
                <a:latin typeface="+mn-ea"/>
              </a:rPr>
              <a:t>그 러 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0B682-719F-F8F3-4FF2-04F667504921}"/>
              </a:ext>
            </a:extLst>
          </p:cNvPr>
          <p:cNvSpPr txBox="1"/>
          <p:nvPr/>
        </p:nvSpPr>
        <p:spPr>
          <a:xfrm>
            <a:off x="3822803" y="3655472"/>
            <a:ext cx="4998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0">
                <a:solidFill>
                  <a:srgbClr val="004C86"/>
                </a:solidFill>
                <a:effectLst/>
                <a:latin typeface="+mn-ea"/>
              </a:rPr>
              <a:t>0.9pu~1.05pu </a:t>
            </a:r>
            <a:r>
              <a:rPr lang="ko-KR" altLang="en-US" sz="1800" i="0">
                <a:solidFill>
                  <a:srgbClr val="004C86"/>
                </a:solidFill>
                <a:effectLst/>
                <a:latin typeface="+mn-ea"/>
              </a:rPr>
              <a:t>라는 </a:t>
            </a:r>
            <a:r>
              <a:rPr lang="ko-KR" altLang="en-US" sz="1800" b="1" i="0">
                <a:solidFill>
                  <a:srgbClr val="004C86"/>
                </a:solidFill>
                <a:effectLst/>
                <a:latin typeface="+mn-ea"/>
              </a:rPr>
              <a:t>연속적인 안정조건</a:t>
            </a:r>
            <a:r>
              <a:rPr lang="ko-KR" altLang="en-US" sz="1800" i="0">
                <a:solidFill>
                  <a:srgbClr val="004C86"/>
                </a:solidFill>
                <a:effectLst/>
                <a:latin typeface="+mn-ea"/>
              </a:rPr>
              <a:t>을 만족하며 목적함수</a:t>
            </a:r>
            <a:r>
              <a:rPr lang="en-US" altLang="ko-KR" sz="1800" i="0">
                <a:solidFill>
                  <a:srgbClr val="004C86"/>
                </a:solidFill>
                <a:effectLst/>
                <a:latin typeface="+mn-ea"/>
              </a:rPr>
              <a:t>(</a:t>
            </a:r>
            <a:r>
              <a:rPr lang="ko-KR" altLang="en-US" sz="1800" i="0" err="1">
                <a:solidFill>
                  <a:srgbClr val="004C86"/>
                </a:solidFill>
                <a:effectLst/>
                <a:latin typeface="+mn-ea"/>
              </a:rPr>
              <a:t>커패시터</a:t>
            </a:r>
            <a:r>
              <a:rPr lang="ko-KR" altLang="en-US" sz="1800" i="0">
                <a:solidFill>
                  <a:srgbClr val="004C86"/>
                </a:solidFill>
                <a:effectLst/>
                <a:latin typeface="+mn-ea"/>
              </a:rPr>
              <a:t> 총 설치비용</a:t>
            </a:r>
            <a:r>
              <a:rPr lang="en-US" altLang="ko-KR" sz="1800" i="0">
                <a:solidFill>
                  <a:srgbClr val="004C86"/>
                </a:solidFill>
                <a:effectLst/>
                <a:latin typeface="+mn-ea"/>
              </a:rPr>
              <a:t>)</a:t>
            </a:r>
            <a:r>
              <a:rPr lang="ko-KR" altLang="en-US" sz="1800" i="0">
                <a:solidFill>
                  <a:srgbClr val="004C86"/>
                </a:solidFill>
                <a:effectLst/>
                <a:latin typeface="+mn-ea"/>
              </a:rPr>
              <a:t>을 최저로 만드는 데에는 어려움이 있었음</a:t>
            </a:r>
            <a:endParaRPr lang="ko-Kore-KR" altLang="en-US">
              <a:solidFill>
                <a:srgbClr val="004C86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A3326-773E-B05D-B54F-B0AFAA6B6588}"/>
              </a:ext>
            </a:extLst>
          </p:cNvPr>
          <p:cNvSpPr txBox="1"/>
          <p:nvPr/>
        </p:nvSpPr>
        <p:spPr>
          <a:xfrm>
            <a:off x="7008055" y="5055369"/>
            <a:ext cx="1804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200" b="1" i="0">
                <a:solidFill>
                  <a:srgbClr val="004C86"/>
                </a:solidFill>
                <a:effectLst/>
                <a:latin typeface="+mn-ea"/>
              </a:rPr>
              <a:t>GA</a:t>
            </a:r>
            <a:endParaRPr lang="ko-Kore-KR" altLang="en-US" sz="7200" b="1">
              <a:solidFill>
                <a:srgbClr val="004C86"/>
              </a:solidFill>
              <a:latin typeface="+mn-ea"/>
            </a:endParaRPr>
          </a:p>
        </p:txBody>
      </p:sp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3FB1AFD8-C2D6-F30C-657A-51DA3264583E}"/>
              </a:ext>
            </a:extLst>
          </p:cNvPr>
          <p:cNvSpPr/>
          <p:nvPr/>
        </p:nvSpPr>
        <p:spPr>
          <a:xfrm>
            <a:off x="4572000" y="5055370"/>
            <a:ext cx="1656184" cy="1200329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8976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95"/>
    </mc:Choice>
    <mc:Fallback xmlns="">
      <p:transition spd="slow" advTm="3599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844BA-963E-44AA-970C-F5FFAA82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872033F-36AB-EF14-34F0-462850EAFE1D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R" altLang="en-US" sz="2600" b="1" spc="-80">
                <a:solidFill>
                  <a:srgbClr val="004C86"/>
                </a:solidFill>
              </a:rPr>
              <a:t>      </a:t>
            </a:r>
            <a:r>
              <a:rPr lang="ko-Kore-KR" altLang="en-US" sz="2600" b="1" spc="-80">
                <a:solidFill>
                  <a:srgbClr val="004C86"/>
                </a:solidFill>
              </a:rPr>
              <a:t>알고리즘 적용 및 결과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F728C-30F5-81C5-E840-9AAD78CA4F39}"/>
              </a:ext>
            </a:extLst>
          </p:cNvPr>
          <p:cNvSpPr txBox="1"/>
          <p:nvPr/>
        </p:nvSpPr>
        <p:spPr>
          <a:xfrm>
            <a:off x="3856835" y="476674"/>
            <a:ext cx="166840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600" b="1" i="0">
                <a:solidFill>
                  <a:srgbClr val="004C86"/>
                </a:solidFill>
                <a:effectLst/>
                <a:latin typeface="+mn-ea"/>
              </a:rPr>
              <a:t>GA</a:t>
            </a:r>
            <a:endParaRPr lang="ko-Kore-KR" altLang="en-US" sz="2600" b="1">
              <a:solidFill>
                <a:srgbClr val="004C86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64B4C-008B-5F50-8033-92756C9E74FC}"/>
              </a:ext>
            </a:extLst>
          </p:cNvPr>
          <p:cNvSpPr txBox="1"/>
          <p:nvPr/>
        </p:nvSpPr>
        <p:spPr>
          <a:xfrm>
            <a:off x="395536" y="1340768"/>
            <a:ext cx="790262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1100"/>
              <a:t>Gen 189: min -174493.56, avg -129433.38, cap cost 6362.88</a:t>
            </a:r>
          </a:p>
          <a:p>
            <a:r>
              <a:rPr lang="ko-Kore-KR" altLang="en-US" sz="1100"/>
              <a:t>⚠️ 100 세대 연속 개선 없어 조기종료 at gen 189</a:t>
            </a:r>
          </a:p>
          <a:p>
            <a:endParaRPr lang="ko-Kore-KR" altLang="en-US" sz="1100"/>
          </a:p>
          <a:p>
            <a:r>
              <a:rPr lang="ko-Kore-KR" altLang="en-US" sz="1100"/>
              <a:t>=== GA 최적화 결과 ===</a:t>
            </a:r>
          </a:p>
          <a:p>
            <a:r>
              <a:rPr lang="ko-Kore-KR" altLang="en-US" sz="1100"/>
              <a:t> Bus  Installed_kVAr   vm_pu  CapCost_USD</a:t>
            </a:r>
          </a:p>
          <a:p>
            <a:r>
              <a:rPr lang="ko-Kore-KR" altLang="en-US" sz="1100"/>
              <a:t>   1             0.0 1.00000         0.00</a:t>
            </a:r>
          </a:p>
          <a:p>
            <a:r>
              <a:rPr lang="ko-Kore-KR" altLang="en-US" sz="1100"/>
              <a:t>   2             0.0 0.99582         0.00</a:t>
            </a:r>
          </a:p>
          <a:p>
            <a:r>
              <a:rPr lang="ko-Kore-KR" altLang="en-US" sz="1100"/>
              <a:t>   3             0.0 0.97626         0.00</a:t>
            </a:r>
          </a:p>
          <a:p>
            <a:r>
              <a:rPr lang="ko-Kore-KR" altLang="en-US" sz="1100"/>
              <a:t>   4             0.0 0.96636         0.00</a:t>
            </a:r>
          </a:p>
          <a:p>
            <a:r>
              <a:rPr lang="ko-Kore-KR" altLang="en-US" sz="1100"/>
              <a:t>   5             0.0 0.95666         0.00</a:t>
            </a:r>
          </a:p>
          <a:p>
            <a:r>
              <a:rPr lang="ko-Kore-KR" altLang="en-US" sz="1100"/>
              <a:t>   6             0.0 0.93475         0.00</a:t>
            </a:r>
          </a:p>
          <a:p>
            <a:r>
              <a:rPr lang="ko-Kore-KR" altLang="en-US" sz="1100"/>
              <a:t>   7             0.0 0.93245         0.00</a:t>
            </a:r>
          </a:p>
          <a:p>
            <a:r>
              <a:rPr lang="ko-Kore-KR" altLang="en-US" sz="1100"/>
              <a:t>   8             0.0 0.91745         0.00</a:t>
            </a:r>
          </a:p>
          <a:p>
            <a:r>
              <a:rPr lang="ko-Kore-KR" altLang="en-US" sz="1100"/>
              <a:t>   9             0.0 0.91141         0.00</a:t>
            </a:r>
          </a:p>
          <a:p>
            <a:r>
              <a:rPr lang="ko-Kore-KR" altLang="en-US" sz="1100"/>
              <a:t>  10             0.0 0.90617         0.00</a:t>
            </a:r>
          </a:p>
          <a:p>
            <a:r>
              <a:rPr lang="ko-Kore-KR" altLang="en-US" sz="1100"/>
              <a:t>  11             0.0 0.90515         0.00</a:t>
            </a:r>
          </a:p>
          <a:p>
            <a:r>
              <a:rPr lang="ko-Kore-KR" altLang="en-US" sz="1100"/>
              <a:t>  12             0.0 0.90343         0.00</a:t>
            </a:r>
          </a:p>
          <a:p>
            <a:r>
              <a:rPr lang="ko-Kore-KR" altLang="en-US" sz="1100"/>
              <a:t>  13             0.0 0.90000         0.00</a:t>
            </a:r>
          </a:p>
          <a:p>
            <a:r>
              <a:rPr lang="ko-Kore-KR" altLang="en-US" sz="1100"/>
              <a:t>  14             0.0 0.90032         0.00</a:t>
            </a:r>
          </a:p>
          <a:p>
            <a:r>
              <a:rPr lang="ko-Kore-KR" altLang="en-US" sz="1100"/>
              <a:t>  15             0.0 0.90096         0.00</a:t>
            </a:r>
          </a:p>
          <a:p>
            <a:r>
              <a:rPr lang="ko-Kore-KR" altLang="en-US" sz="1100"/>
              <a:t>  16             0.0 0.90180         0.00</a:t>
            </a:r>
          </a:p>
          <a:p>
            <a:r>
              <a:rPr lang="ko-Kore-KR" altLang="en-US" sz="1100"/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C94B5-68E2-32E1-AD2C-3EAC1801FA7A}"/>
              </a:ext>
            </a:extLst>
          </p:cNvPr>
          <p:cNvSpPr txBox="1"/>
          <p:nvPr/>
        </p:nvSpPr>
        <p:spPr>
          <a:xfrm>
            <a:off x="3419872" y="2060848"/>
            <a:ext cx="457200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1100"/>
              <a:t>  17          3176.7 0.90810      3496.48</a:t>
            </a:r>
          </a:p>
          <a:p>
            <a:r>
              <a:rPr lang="ko-Kore-KR" altLang="en-US" sz="1100"/>
              <a:t>  18             0.0 0.90717         0.00</a:t>
            </a:r>
          </a:p>
          <a:p>
            <a:r>
              <a:rPr lang="ko-Kore-KR" altLang="en-US" sz="1100"/>
              <a:t>  19             0.0 0.99501         0.00</a:t>
            </a:r>
          </a:p>
          <a:p>
            <a:r>
              <a:rPr lang="ko-Kore-KR" altLang="en-US" sz="1100"/>
              <a:t>  20             0.0 0.98952         0.00</a:t>
            </a:r>
          </a:p>
          <a:p>
            <a:r>
              <a:rPr lang="ko-Kore-KR" altLang="en-US" sz="1100"/>
              <a:t>  21             0.0 0.98844         0.00</a:t>
            </a:r>
          </a:p>
          <a:p>
            <a:r>
              <a:rPr lang="ko-Kore-KR" altLang="en-US" sz="1100"/>
              <a:t>  22             0.0 0.98747         0.00</a:t>
            </a:r>
          </a:p>
          <a:p>
            <a:r>
              <a:rPr lang="ko-Kore-KR" altLang="en-US" sz="1100"/>
              <a:t>  23             0.0 0.97071         0.00</a:t>
            </a:r>
          </a:p>
          <a:p>
            <a:r>
              <a:rPr lang="ko-Kore-KR" altLang="en-US" sz="1100"/>
              <a:t>  24             0.0 0.96037         0.00</a:t>
            </a:r>
          </a:p>
          <a:p>
            <a:r>
              <a:rPr lang="ko-Kore-KR" altLang="en-US" sz="1100"/>
              <a:t>  25             0.0 0.95522         0.00</a:t>
            </a:r>
          </a:p>
          <a:p>
            <a:r>
              <a:rPr lang="ko-Kore-KR" altLang="en-US" sz="1100"/>
              <a:t>  26             0.0 0.93225         0.00</a:t>
            </a:r>
          </a:p>
          <a:p>
            <a:r>
              <a:rPr lang="ko-Kore-KR" altLang="en-US" sz="1100"/>
              <a:t>  27             0.0 0.92895         0.00</a:t>
            </a:r>
          </a:p>
          <a:p>
            <a:r>
              <a:rPr lang="ko-Kore-KR" altLang="en-US" sz="1100"/>
              <a:t>  28             0.0 0.91562         0.00</a:t>
            </a:r>
          </a:p>
          <a:p>
            <a:r>
              <a:rPr lang="ko-Kore-KR" altLang="en-US" sz="1100"/>
              <a:t>  29             0.0 0.90619         0.00</a:t>
            </a:r>
          </a:p>
          <a:p>
            <a:r>
              <a:rPr lang="ko-Kore-KR" altLang="en-US" sz="1100"/>
              <a:t>  30             0.0 0.90189         0.00</a:t>
            </a:r>
          </a:p>
          <a:p>
            <a:r>
              <a:rPr lang="ko-Kore-KR" altLang="en-US" sz="1100"/>
              <a:t>  31             0.0 0.90009         0.00</a:t>
            </a:r>
          </a:p>
          <a:p>
            <a:r>
              <a:rPr lang="ko-Kore-KR" altLang="en-US" sz="1100"/>
              <a:t>  32          2854.8 0.90044      2866.41</a:t>
            </a:r>
          </a:p>
          <a:p>
            <a:r>
              <a:rPr lang="ko-Kore-KR" altLang="en-US" sz="1100"/>
              <a:t>  33             0.0 0.90000         0.00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3C01D-609A-02B4-089C-72516241EB94}"/>
              </a:ext>
            </a:extLst>
          </p:cNvPr>
          <p:cNvSpPr txBox="1"/>
          <p:nvPr/>
        </p:nvSpPr>
        <p:spPr>
          <a:xfrm>
            <a:off x="5797624" y="5512055"/>
            <a:ext cx="3024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i="0">
                <a:solidFill>
                  <a:srgbClr val="004C86"/>
                </a:solidFill>
                <a:effectLst/>
                <a:latin typeface="+mn-ea"/>
              </a:rPr>
              <a:t>17</a:t>
            </a:r>
            <a:r>
              <a:rPr lang="ko-KR" altLang="en-US" sz="2800" b="1" i="0">
                <a:solidFill>
                  <a:srgbClr val="004C86"/>
                </a:solidFill>
                <a:effectLst/>
                <a:latin typeface="+mn-ea"/>
              </a:rPr>
              <a:t>번</a:t>
            </a:r>
            <a:r>
              <a:rPr lang="en-US" altLang="ko-KR" sz="2800" b="1" i="0">
                <a:solidFill>
                  <a:srgbClr val="004C86"/>
                </a:solidFill>
                <a:effectLst/>
                <a:latin typeface="+mn-ea"/>
              </a:rPr>
              <a:t>, 32</a:t>
            </a:r>
            <a:r>
              <a:rPr lang="ko-KR" altLang="en-US" sz="2800" b="1" i="0">
                <a:solidFill>
                  <a:srgbClr val="004C86"/>
                </a:solidFill>
                <a:effectLst/>
                <a:latin typeface="+mn-ea"/>
              </a:rPr>
              <a:t>번 위치</a:t>
            </a:r>
            <a:endParaRPr lang="ko-Kore-KR" altLang="en-US" sz="2800" b="1">
              <a:solidFill>
                <a:srgbClr val="004C86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7EC17A-047D-49F4-47FD-C8AA3DB03427}"/>
              </a:ext>
            </a:extLst>
          </p:cNvPr>
          <p:cNvSpPr txBox="1"/>
          <p:nvPr/>
        </p:nvSpPr>
        <p:spPr>
          <a:xfrm>
            <a:off x="426418" y="4994484"/>
            <a:ext cx="5371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i="0" err="1">
                <a:solidFill>
                  <a:srgbClr val="004C86"/>
                </a:solidFill>
                <a:effectLst/>
                <a:latin typeface="+mn-ea"/>
              </a:rPr>
              <a:t>커패시터</a:t>
            </a:r>
            <a:r>
              <a:rPr lang="ko-KR" altLang="en-US" sz="1800" b="1" i="0">
                <a:solidFill>
                  <a:srgbClr val="004C86"/>
                </a:solidFill>
                <a:effectLst/>
                <a:latin typeface="+mn-ea"/>
              </a:rPr>
              <a:t> 분할 </a:t>
            </a:r>
            <a:r>
              <a:rPr lang="en-US" altLang="ko-KR" sz="1800" b="1" i="0">
                <a:solidFill>
                  <a:srgbClr val="004C86"/>
                </a:solidFill>
                <a:effectLst/>
                <a:latin typeface="+mn-ea"/>
              </a:rPr>
              <a:t>/ </a:t>
            </a:r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Total Cost: </a:t>
            </a:r>
            <a:r>
              <a:rPr lang="en-US" altLang="ko-KR" sz="1800" b="1" i="0">
                <a:solidFill>
                  <a:srgbClr val="004C86"/>
                </a:solidFill>
                <a:effectLst/>
                <a:latin typeface="+mn-ea"/>
              </a:rPr>
              <a:t>4298.67</a:t>
            </a:r>
            <a:r>
              <a:rPr lang="en-US" altLang="ko-Kore-KR" sz="1800" b="1" i="0">
                <a:solidFill>
                  <a:srgbClr val="004C86"/>
                </a:solidFill>
                <a:effectLst/>
                <a:latin typeface="+mn-ea"/>
              </a:rPr>
              <a:t> USD</a:t>
            </a:r>
            <a:endParaRPr lang="ko-Kore-KR" altLang="en-US" b="1">
              <a:solidFill>
                <a:srgbClr val="004C8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656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8788">
        <p159:morph option="byObject"/>
      </p:transition>
    </mc:Choice>
    <mc:Fallback xmlns="">
      <p:transition spd="slow" advTm="18788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E0DEB-F74F-3A36-F5AC-00B970B7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77F69E2-D4A2-44B9-C63D-5B68AA21507B}"/>
              </a:ext>
            </a:extLst>
          </p:cNvPr>
          <p:cNvSpPr txBox="1"/>
          <p:nvPr/>
        </p:nvSpPr>
        <p:spPr>
          <a:xfrm>
            <a:off x="561600" y="476674"/>
            <a:ext cx="8258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Python</a:t>
            </a:r>
            <a:r>
              <a:rPr lang="ko-Kore-KR" altLang="en-US" sz="2600" b="1" spc="-80">
                <a:solidFill>
                  <a:srgbClr val="004C86"/>
                </a:solidFill>
              </a:rPr>
              <a:t> 결론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2" name="사각형: 둥근 모서리 2">
            <a:extLst>
              <a:ext uri="{FF2B5EF4-FFF2-40B4-BE49-F238E27FC236}">
                <a16:creationId xmlns:a16="http://schemas.microsoft.com/office/drawing/2014/main" id="{7B921AE9-6739-B6CA-AB31-FEA6032B01BF}"/>
              </a:ext>
            </a:extLst>
          </p:cNvPr>
          <p:cNvSpPr/>
          <p:nvPr/>
        </p:nvSpPr>
        <p:spPr>
          <a:xfrm>
            <a:off x="516038" y="1726257"/>
            <a:ext cx="8258872" cy="3816424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>
                <a:solidFill>
                  <a:schemeClr val="bg1"/>
                </a:solidFill>
                <a:latin typeface="+mn-ea"/>
              </a:rPr>
              <a:t>위치 추정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에서 강점</a:t>
            </a:r>
            <a:endParaRPr lang="en-US" altLang="ko-KR">
              <a:solidFill>
                <a:schemeClr val="bg1"/>
              </a:solidFill>
              <a:latin typeface="+mn-ea"/>
            </a:endParaRPr>
          </a:p>
          <a:p>
            <a:endParaRPr lang="en-US" altLang="ko-KR">
              <a:solidFill>
                <a:schemeClr val="bg1"/>
              </a:solidFill>
              <a:latin typeface="+mn-ea"/>
            </a:endParaRPr>
          </a:p>
          <a:p>
            <a:r>
              <a:rPr lang="ko-KR" altLang="en-US">
                <a:solidFill>
                  <a:schemeClr val="bg1"/>
                </a:solidFill>
                <a:latin typeface="+mn-ea"/>
              </a:rPr>
              <a:t>빠른 속도</a:t>
            </a:r>
            <a:endParaRPr lang="en-US" altLang="ko-KR">
              <a:solidFill>
                <a:schemeClr val="bg1"/>
              </a:solidFill>
              <a:latin typeface="+mn-ea"/>
            </a:endParaRPr>
          </a:p>
          <a:p>
            <a:endParaRPr lang="en-US" altLang="ko-Kore-KR">
              <a:solidFill>
                <a:schemeClr val="bg1"/>
              </a:solidFill>
              <a:latin typeface="+mn-ea"/>
            </a:endParaRPr>
          </a:p>
          <a:p>
            <a:r>
              <a:rPr lang="en-US" altLang="ko-Kore-KR">
                <a:solidFill>
                  <a:schemeClr val="bg1"/>
                </a:solidFill>
                <a:latin typeface="+mn-ea"/>
              </a:rPr>
              <a:t>MATLAB GA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 분석 시 전압강하가 심한 </a:t>
            </a:r>
            <a:r>
              <a:rPr lang="ko-KR" altLang="en-US" b="1">
                <a:solidFill>
                  <a:schemeClr val="bg1"/>
                </a:solidFill>
                <a:latin typeface="+mn-ea"/>
              </a:rPr>
              <a:t>계통 하단에 </a:t>
            </a:r>
            <a:r>
              <a:rPr lang="ko-KR" altLang="en-US" err="1">
                <a:solidFill>
                  <a:schemeClr val="bg1"/>
                </a:solidFill>
                <a:latin typeface="+mn-ea"/>
              </a:rPr>
              <a:t>커패시터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 배치가 유리</a:t>
            </a:r>
            <a:endParaRPr lang="en-US" altLang="ko-KR">
              <a:solidFill>
                <a:schemeClr val="bg1"/>
              </a:solidFill>
              <a:latin typeface="+mn-ea"/>
            </a:endParaRPr>
          </a:p>
          <a:p>
            <a:endParaRPr lang="en-US" altLang="ko-KR">
              <a:solidFill>
                <a:schemeClr val="bg1"/>
              </a:solidFill>
              <a:latin typeface="+mn-ea"/>
            </a:endParaRPr>
          </a:p>
          <a:p>
            <a:r>
              <a:rPr lang="ko-KR" altLang="en-US" b="1" err="1">
                <a:solidFill>
                  <a:schemeClr val="bg1"/>
                </a:solidFill>
                <a:latin typeface="+mn-ea"/>
              </a:rPr>
              <a:t>커패시터를</a:t>
            </a:r>
            <a:r>
              <a:rPr lang="ko-KR" altLang="en-US" b="1">
                <a:solidFill>
                  <a:schemeClr val="bg1"/>
                </a:solidFill>
                <a:latin typeface="+mn-ea"/>
              </a:rPr>
              <a:t> 배치한 </a:t>
            </a:r>
            <a:r>
              <a:rPr lang="en-US" altLang="ko-KR" b="1">
                <a:solidFill>
                  <a:schemeClr val="bg1"/>
                </a:solidFill>
                <a:latin typeface="+mn-ea"/>
              </a:rPr>
              <a:t>branch</a:t>
            </a:r>
            <a:r>
              <a:rPr lang="ko-KR" altLang="en-US" b="1" err="1">
                <a:solidFill>
                  <a:schemeClr val="bg1"/>
                </a:solidFill>
                <a:latin typeface="+mn-ea"/>
              </a:rPr>
              <a:t>에만</a:t>
            </a:r>
            <a:r>
              <a:rPr lang="ko-KR" altLang="en-US" b="1">
                <a:solidFill>
                  <a:schemeClr val="bg1"/>
                </a:solidFill>
                <a:latin typeface="+mn-ea"/>
              </a:rPr>
              <a:t> 보상</a:t>
            </a:r>
            <a:r>
              <a:rPr lang="en-US" altLang="ko-KR" b="1">
                <a:solidFill>
                  <a:schemeClr val="bg1"/>
                </a:solidFill>
                <a:latin typeface="+mn-ea"/>
              </a:rPr>
              <a:t>X</a:t>
            </a:r>
          </a:p>
          <a:p>
            <a:r>
              <a:rPr lang="ko-KR" altLang="en-US" b="1">
                <a:solidFill>
                  <a:schemeClr val="bg1"/>
                </a:solidFill>
                <a:latin typeface="+mn-ea"/>
              </a:rPr>
              <a:t>다른 </a:t>
            </a:r>
            <a:r>
              <a:rPr lang="en-US" altLang="ko-KR" b="1">
                <a:solidFill>
                  <a:schemeClr val="bg1"/>
                </a:solidFill>
                <a:latin typeface="+mn-ea"/>
              </a:rPr>
              <a:t>branch</a:t>
            </a:r>
            <a:r>
              <a:rPr lang="ko-KR" altLang="en-US" b="1">
                <a:solidFill>
                  <a:schemeClr val="bg1"/>
                </a:solidFill>
                <a:latin typeface="+mn-ea"/>
              </a:rPr>
              <a:t>에도 보상 가능</a:t>
            </a:r>
            <a:endParaRPr lang="en-US" altLang="ko-KR" b="1">
              <a:solidFill>
                <a:schemeClr val="bg1"/>
              </a:solidFill>
              <a:latin typeface="+mn-ea"/>
            </a:endParaRPr>
          </a:p>
          <a:p>
            <a:endParaRPr lang="en-US" altLang="ko-Kore-KR" b="1">
              <a:solidFill>
                <a:schemeClr val="bg1"/>
              </a:solidFill>
              <a:latin typeface="+mn-ea"/>
            </a:endParaRPr>
          </a:p>
          <a:p>
            <a:r>
              <a:rPr lang="en-US" altLang="ko-KR" b="1">
                <a:solidFill>
                  <a:schemeClr val="bg1"/>
                </a:solidFill>
                <a:latin typeface="+mn-ea"/>
              </a:rPr>
              <a:t>DE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의 한계</a:t>
            </a:r>
            <a:r>
              <a:rPr lang="en-US" altLang="ko-KR">
                <a:solidFill>
                  <a:schemeClr val="bg1"/>
                </a:solidFill>
                <a:latin typeface="+mn-ea"/>
              </a:rPr>
              <a:t> -&gt; MATLAB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 분석 시 </a:t>
            </a:r>
            <a:r>
              <a:rPr lang="en-US" altLang="ko-KR">
                <a:solidFill>
                  <a:schemeClr val="bg1"/>
                </a:solidFill>
                <a:latin typeface="+mn-ea"/>
              </a:rPr>
              <a:t>GA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 적용</a:t>
            </a:r>
            <a:endParaRPr lang="en-US" altLang="ko-KR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사각형: 둥근 모서리 3">
            <a:extLst>
              <a:ext uri="{FF2B5EF4-FFF2-40B4-BE49-F238E27FC236}">
                <a16:creationId xmlns:a16="http://schemas.microsoft.com/office/drawing/2014/main" id="{19CDDE81-4C1C-963C-BD5F-E60FC8A4E57F}"/>
              </a:ext>
            </a:extLst>
          </p:cNvPr>
          <p:cNvSpPr/>
          <p:nvPr/>
        </p:nvSpPr>
        <p:spPr>
          <a:xfrm>
            <a:off x="588379" y="1412776"/>
            <a:ext cx="2329405" cy="535329"/>
          </a:xfrm>
          <a:prstGeom prst="roundRect">
            <a:avLst/>
          </a:prstGeom>
          <a:ln>
            <a:solidFill>
              <a:srgbClr val="004C8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200" b="1">
                <a:solidFill>
                  <a:srgbClr val="004C86"/>
                </a:solidFill>
                <a:ea typeface="맑은 고딕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54085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07"/>
    </mc:Choice>
    <mc:Fallback xmlns="">
      <p:transition spd="slow" advTm="4010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ED179-2309-63AD-4D4D-8CEF6F27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C384B7-C5D6-2D23-3B97-3629194D3185}"/>
              </a:ext>
            </a:extLst>
          </p:cNvPr>
          <p:cNvSpPr txBox="1"/>
          <p:nvPr/>
        </p:nvSpPr>
        <p:spPr>
          <a:xfrm>
            <a:off x="611560" y="2001614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pc="-50">
                <a:solidFill>
                  <a:schemeClr val="bg1"/>
                </a:solidFill>
              </a:rPr>
              <a:t>최적해 찾기 </a:t>
            </a:r>
            <a:r>
              <a:rPr lang="en-US" altLang="ko-KR" sz="5400" b="1" spc="-50">
                <a:solidFill>
                  <a:schemeClr val="bg1"/>
                </a:solidFill>
              </a:rPr>
              <a:t>MATLAB</a:t>
            </a:r>
            <a:endParaRPr lang="ko-KR" altLang="en-US" sz="5400" b="1" spc="-5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BE6C9-E949-E48D-E0EC-B18C2CA88CA1}"/>
              </a:ext>
            </a:extLst>
          </p:cNvPr>
          <p:cNvSpPr txBox="1"/>
          <p:nvPr/>
        </p:nvSpPr>
        <p:spPr>
          <a:xfrm>
            <a:off x="144924" y="2924944"/>
            <a:ext cx="7667436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4000"/>
              </a:lnSpc>
            </a:pPr>
            <a:r>
              <a:rPr lang="en-US" altLang="ko-KR" sz="2100" b="1" spc="-120">
                <a:solidFill>
                  <a:schemeClr val="bg1"/>
                </a:solidFill>
                <a:latin typeface="+mn-ea"/>
              </a:rPr>
              <a:t>GA Algorithm, </a:t>
            </a:r>
            <a:r>
              <a:rPr lang="ko-KR" altLang="en-US" sz="2100" b="1" spc="-120">
                <a:solidFill>
                  <a:schemeClr val="bg1"/>
                </a:solidFill>
                <a:latin typeface="+mn-ea"/>
              </a:rPr>
              <a:t>분석</a:t>
            </a:r>
            <a:endParaRPr lang="en-US" altLang="ko-KR" sz="2100" b="1" spc="-12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8908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D01B-2212-3FB4-2F55-37CAB78D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DE3405-DA75-88AB-1E78-1881DCA94CB6}"/>
              </a:ext>
            </a:extLst>
          </p:cNvPr>
          <p:cNvSpPr txBox="1"/>
          <p:nvPr/>
        </p:nvSpPr>
        <p:spPr>
          <a:xfrm>
            <a:off x="561599" y="476674"/>
            <a:ext cx="58686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MATLAB GA</a:t>
            </a:r>
            <a:r>
              <a:rPr lang="ko-KR" altLang="en-US" sz="2600" b="1" spc="-80">
                <a:solidFill>
                  <a:srgbClr val="004C86"/>
                </a:solidFill>
              </a:rPr>
              <a:t>방식 장점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2BE36-C084-9F6D-901A-1A55A59A522E}"/>
              </a:ext>
            </a:extLst>
          </p:cNvPr>
          <p:cNvSpPr txBox="1"/>
          <p:nvPr/>
        </p:nvSpPr>
        <p:spPr>
          <a:xfrm>
            <a:off x="335689" y="1381714"/>
            <a:ext cx="768743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800" b="1"/>
              <a:t>유전 알고리즘</a:t>
            </a:r>
            <a:r>
              <a:rPr lang="en-US" altLang="ko-KR" sz="2800" b="1"/>
              <a:t>(GA)</a:t>
            </a:r>
            <a:r>
              <a:rPr lang="ko-KR" altLang="en-US" sz="2800"/>
              <a:t>의 장점</a:t>
            </a:r>
          </a:p>
          <a:p>
            <a:endParaRPr lang="en-US" altLang="ko-KR"/>
          </a:p>
          <a:p>
            <a:pPr marL="342900" indent="-342900">
              <a:buAutoNum type="arabicParenR"/>
            </a:pPr>
            <a:r>
              <a:rPr lang="ko-KR" altLang="en-US"/>
              <a:t>다목적 최적화     </a:t>
            </a:r>
            <a:r>
              <a:rPr lang="en-US" altLang="ko-KR"/>
              <a:t>:</a:t>
            </a:r>
            <a:r>
              <a:rPr lang="ko-KR" altLang="en-US"/>
              <a:t>  선형성</a:t>
            </a:r>
            <a:r>
              <a:rPr lang="en-US" altLang="ko-KR"/>
              <a:t>, </a:t>
            </a:r>
            <a:r>
              <a:rPr lang="ko-KR" altLang="en-US"/>
              <a:t>연속성</a:t>
            </a:r>
            <a:r>
              <a:rPr lang="en-US" altLang="ko-KR"/>
              <a:t>, </a:t>
            </a:r>
            <a:r>
              <a:rPr lang="ko-KR" altLang="en-US"/>
              <a:t>미분 가능성 등 문제의 제약에 </a:t>
            </a:r>
            <a:endParaRPr lang="en-US" altLang="ko-KR"/>
          </a:p>
          <a:p>
            <a:r>
              <a:rPr lang="en-US" altLang="ko-KR"/>
              <a:t>                              </a:t>
            </a:r>
            <a:r>
              <a:rPr lang="ko-KR" altLang="en-US"/>
              <a:t>크게 </a:t>
            </a:r>
            <a:r>
              <a:rPr lang="ko-KR" altLang="en-US" err="1"/>
              <a:t>구애받지</a:t>
            </a:r>
            <a:r>
              <a:rPr lang="ko-KR" altLang="en-US"/>
              <a:t> 않고 다양하고 복잡한 유형의 </a:t>
            </a:r>
            <a:endParaRPr lang="en-US" altLang="ko-KR"/>
          </a:p>
          <a:p>
            <a:r>
              <a:rPr lang="ko-KR" altLang="en-US"/>
              <a:t>                              최적화 문제를 해결</a:t>
            </a:r>
            <a:endParaRPr lang="en-US" altLang="ko-KR"/>
          </a:p>
          <a:p>
            <a:r>
              <a:rPr lang="en-US" altLang="ko-KR"/>
              <a:t>2) </a:t>
            </a:r>
            <a:r>
              <a:rPr lang="ko-KR" altLang="en-US"/>
              <a:t>전역 최적해 탐색  </a:t>
            </a:r>
            <a:r>
              <a:rPr lang="en-US" altLang="ko-KR"/>
              <a:t>:</a:t>
            </a:r>
            <a:r>
              <a:rPr lang="ko-KR" altLang="en-US"/>
              <a:t>  지역 최적해에 갇히지 않고</a:t>
            </a:r>
            <a:r>
              <a:rPr lang="en-US" altLang="ko-KR"/>
              <a:t>, </a:t>
            </a:r>
            <a:r>
              <a:rPr lang="ko-KR" altLang="en-US"/>
              <a:t>넓은 탐색 공간에서</a:t>
            </a:r>
            <a:endParaRPr lang="en-US" altLang="ko-KR"/>
          </a:p>
          <a:p>
            <a:r>
              <a:rPr lang="ko-KR" altLang="en-US"/>
              <a:t>                              전역 최적해를 찾을 가능성이 높음</a:t>
            </a:r>
          </a:p>
        </p:txBody>
      </p:sp>
      <p:sp>
        <p:nvSpPr>
          <p:cNvPr id="8" name="오른쪽 화살표[R] 2">
            <a:extLst>
              <a:ext uri="{FF2B5EF4-FFF2-40B4-BE49-F238E27FC236}">
                <a16:creationId xmlns:a16="http://schemas.microsoft.com/office/drawing/2014/main" id="{88409A58-CCC5-1271-E4E7-75738C9C72DA}"/>
              </a:ext>
            </a:extLst>
          </p:cNvPr>
          <p:cNvSpPr/>
          <p:nvPr/>
        </p:nvSpPr>
        <p:spPr>
          <a:xfrm rot="5400000">
            <a:off x="3890222" y="4500912"/>
            <a:ext cx="1121075" cy="515614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DD9F9-0EFE-13B0-6CEA-0F9D979D0CDF}"/>
              </a:ext>
            </a:extLst>
          </p:cNvPr>
          <p:cNvSpPr txBox="1"/>
          <p:nvPr/>
        </p:nvSpPr>
        <p:spPr>
          <a:xfrm>
            <a:off x="1163533" y="5614028"/>
            <a:ext cx="65744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따라서 </a:t>
            </a:r>
            <a:r>
              <a:rPr lang="en-US" altLang="ko-KR" sz="2600" b="1" spc="-80">
                <a:solidFill>
                  <a:srgbClr val="004C86"/>
                </a:solidFill>
              </a:rPr>
              <a:t>MATLAB</a:t>
            </a:r>
            <a:r>
              <a:rPr lang="ko-KR" altLang="en-US" sz="2600" b="1" spc="-80">
                <a:solidFill>
                  <a:srgbClr val="004C86"/>
                </a:solidFill>
              </a:rPr>
              <a:t>에서는 </a:t>
            </a:r>
            <a:r>
              <a:rPr lang="en-US" altLang="ko-KR" sz="2600" b="1" spc="-80">
                <a:solidFill>
                  <a:srgbClr val="004C86"/>
                </a:solidFill>
              </a:rPr>
              <a:t>GA</a:t>
            </a:r>
            <a:r>
              <a:rPr lang="ko-KR" altLang="en-US" sz="2600" b="1" spc="-80">
                <a:solidFill>
                  <a:srgbClr val="004C86"/>
                </a:solidFill>
              </a:rPr>
              <a:t> 방식을 이용</a:t>
            </a:r>
          </a:p>
        </p:txBody>
      </p:sp>
    </p:spTree>
    <p:extLst>
      <p:ext uri="{BB962C8B-B14F-4D97-AF65-F5344CB8AC3E}">
        <p14:creationId xmlns:p14="http://schemas.microsoft.com/office/powerpoint/2010/main" val="89753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3B6BB-2C16-EBCD-568C-848CB5EB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91C94F-9AB4-023D-5A5E-5F381620351C}"/>
              </a:ext>
            </a:extLst>
          </p:cNvPr>
          <p:cNvSpPr txBox="1"/>
          <p:nvPr/>
        </p:nvSpPr>
        <p:spPr>
          <a:xfrm>
            <a:off x="561600" y="476674"/>
            <a:ext cx="66382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MATLAB - SIMULINK </a:t>
            </a:r>
            <a:r>
              <a:rPr lang="ko-KR" altLang="en-US" sz="2600" b="1" spc="-80">
                <a:solidFill>
                  <a:srgbClr val="004C86"/>
                </a:solidFill>
              </a:rPr>
              <a:t>연결</a:t>
            </a:r>
          </a:p>
          <a:p>
            <a:endParaRPr lang="ko-KR" altLang="en-US" sz="2600" b="1" spc="-80">
              <a:solidFill>
                <a:srgbClr val="004C8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9DB1E-A8BD-520E-13AD-1D5A2095812B}"/>
              </a:ext>
            </a:extLst>
          </p:cNvPr>
          <p:cNvSpPr txBox="1"/>
          <p:nvPr/>
        </p:nvSpPr>
        <p:spPr>
          <a:xfrm>
            <a:off x="561600" y="1332062"/>
            <a:ext cx="680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2400" b="1">
                <a:solidFill>
                  <a:srgbClr val="004C86"/>
                </a:solidFill>
              </a:rPr>
              <a:t>power_loadflow(model_name, 'noupdate’)</a:t>
            </a: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61A427C8-6AA7-20E6-55C4-B658D4529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92" y="2218230"/>
            <a:ext cx="75584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 </a:t>
            </a:r>
            <a:r>
              <a:rPr kumimoji="0" lang="ko-KR" altLang="ko-KR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지정된 </a:t>
            </a:r>
            <a:r>
              <a:rPr kumimoji="0" lang="ko-KR" altLang="ko-KR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Simulink</a:t>
            </a:r>
            <a:r>
              <a:rPr kumimoji="0" lang="ko-KR" altLang="ko-KR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전기 모델(</a:t>
            </a:r>
            <a:r>
              <a:rPr kumimoji="0" lang="ko-KR" altLang="ko-KR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model_name</a:t>
            </a:r>
            <a:r>
              <a:rPr kumimoji="0" lang="ko-KR" altLang="ko-KR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)에 대해 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</a:rPr>
              <a:t>조류 계산을 실행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kumimoji="0" lang="en-US" altLang="ko-KR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>
                <a:latin typeface="Arial" panose="020B0604020202020204" pitchFamily="34" charset="0"/>
              </a:rPr>
              <a:t>     </a:t>
            </a:r>
            <a:r>
              <a:rPr lang="ko-KR" altLang="ko-KR">
                <a:latin typeface="Arial" panose="020B0604020202020204" pitchFamily="34" charset="0"/>
              </a:rPr>
              <a:t>(즉, 전력 흐름 시뮬레이션을 수행) </a:t>
            </a:r>
            <a:endParaRPr lang="en-US" altLang="ko-KR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latin typeface="Arial" panose="020B0604020202020204" pitchFamily="34" charset="0"/>
              </a:rPr>
              <a:t>2) </a:t>
            </a:r>
            <a:r>
              <a:rPr lang="ko-KR" altLang="en-US"/>
              <a:t>전력 시스템의 현재 구성에 대한 안정 상태의 전기적 조건을 계산</a:t>
            </a:r>
            <a:endParaRPr lang="en-US" altLang="ko-KR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   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모선 전압</a:t>
            </a:r>
            <a:r>
              <a:rPr lang="en-US" altLang="ko-KR"/>
              <a:t>, </a:t>
            </a:r>
            <a:r>
              <a:rPr lang="ko-KR" altLang="en-US"/>
              <a:t>선로 전류</a:t>
            </a:r>
            <a:r>
              <a:rPr lang="en-US" altLang="ko-KR"/>
              <a:t>, </a:t>
            </a:r>
            <a:r>
              <a:rPr lang="ko-KR" altLang="en-US"/>
              <a:t>전력 손실 등</a:t>
            </a:r>
            <a:r>
              <a:rPr lang="en-US" altLang="ko-KR"/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latin typeface="Arial" panose="020B0604020202020204" pitchFamily="34" charset="0"/>
              </a:rPr>
              <a:t>3) </a:t>
            </a:r>
            <a:r>
              <a:rPr lang="ko-KR" altLang="en-US"/>
              <a:t>이 계산을 수행할 때 조류 계산 결과에 따라</a:t>
            </a:r>
            <a:r>
              <a:rPr lang="en-US" altLang="ko-KR"/>
              <a:t> Simulink </a:t>
            </a:r>
            <a:r>
              <a:rPr lang="ko-KR" altLang="en-US"/>
              <a:t>모델의 블록 </a:t>
            </a:r>
            <a:endParaRPr lang="en-US" altLang="ko-KR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    파라미터들을 자동으로 변경하지 않음</a:t>
            </a:r>
            <a:endParaRPr lang="en-US" altLang="ko-KR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latin typeface="Arial" panose="020B0604020202020204" pitchFamily="34" charset="0"/>
              </a:rPr>
              <a:t>     </a:t>
            </a:r>
            <a:r>
              <a:rPr lang="en-US" altLang="ko-KR"/>
              <a:t>GA </a:t>
            </a:r>
            <a:r>
              <a:rPr lang="ko-KR" altLang="en-US"/>
              <a:t>목적 함수 내에서 </a:t>
            </a:r>
            <a:r>
              <a:rPr lang="ko-KR" altLang="en-US" err="1"/>
              <a:t>캐패시터</a:t>
            </a:r>
            <a:r>
              <a:rPr lang="ko-KR" altLang="en-US"/>
              <a:t> 값을 반복적으로 설정하고</a:t>
            </a:r>
            <a:r>
              <a:rPr lang="en-US" altLang="ko-KR"/>
              <a:t>, 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    </a:t>
            </a:r>
            <a:r>
              <a:rPr lang="ko-KR" altLang="en-US"/>
              <a:t>그 설정의 결과를 측정하기만 하고 싶을 때 중요함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lang="en-US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61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E0DA-47B0-0846-512E-21AFE338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740735-7840-C276-1621-69D32B2E4C2B}"/>
              </a:ext>
            </a:extLst>
          </p:cNvPr>
          <p:cNvSpPr txBox="1"/>
          <p:nvPr/>
        </p:nvSpPr>
        <p:spPr>
          <a:xfrm>
            <a:off x="561600" y="476674"/>
            <a:ext cx="78988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MATLAB</a:t>
            </a:r>
            <a:r>
              <a:rPr lang="ko-KR" altLang="en-US" sz="2600" b="1" spc="-80">
                <a:solidFill>
                  <a:srgbClr val="004C86"/>
                </a:solidFill>
              </a:rPr>
              <a:t> 분석 신뢰도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14A97-11D1-C645-30EB-1B870F908C03}"/>
              </a:ext>
            </a:extLst>
          </p:cNvPr>
          <p:cNvSpPr txBox="1"/>
          <p:nvPr/>
        </p:nvSpPr>
        <p:spPr>
          <a:xfrm>
            <a:off x="1475656" y="2788749"/>
            <a:ext cx="27142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3200" b="1" spc="-80">
                <a:solidFill>
                  <a:srgbClr val="004C86"/>
                </a:solidFill>
              </a:rPr>
              <a:t>전력조류가</a:t>
            </a:r>
            <a:endParaRPr lang="en-US" altLang="ko-KR" sz="3200" b="1" spc="-80">
              <a:solidFill>
                <a:srgbClr val="004C86"/>
              </a:solidFill>
            </a:endParaRPr>
          </a:p>
          <a:p>
            <a:pPr algn="dist"/>
            <a:r>
              <a:rPr lang="ko-KR" altLang="en-US" sz="3200" b="1" spc="-80">
                <a:solidFill>
                  <a:srgbClr val="004C86"/>
                </a:solidFill>
              </a:rPr>
              <a:t>같게 계산됨을</a:t>
            </a:r>
            <a:endParaRPr lang="en-US" altLang="ko-KR" sz="3200" b="1" spc="-80">
              <a:solidFill>
                <a:srgbClr val="004C86"/>
              </a:solidFill>
            </a:endParaRPr>
          </a:p>
          <a:p>
            <a:pPr algn="dist"/>
            <a:r>
              <a:rPr lang="ko-KR" altLang="en-US" sz="3200" b="1" spc="-80">
                <a:solidFill>
                  <a:srgbClr val="004C86"/>
                </a:solidFill>
              </a:rPr>
              <a:t>확인 가능</a:t>
            </a:r>
            <a:endParaRPr lang="en-US" altLang="ko-KR" sz="3200" b="1" spc="-80">
              <a:solidFill>
                <a:srgbClr val="004C86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AE9B80-2ECB-43A0-1581-BD4171C79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92" y="836712"/>
            <a:ext cx="1227056" cy="5770989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29E482-5856-C3F3-CF66-BD5809513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22274"/>
              </p:ext>
            </p:extLst>
          </p:nvPr>
        </p:nvGraphicFramePr>
        <p:xfrm>
          <a:off x="7840032" y="932399"/>
          <a:ext cx="647648" cy="5297536"/>
        </p:xfrm>
        <a:graphic>
          <a:graphicData uri="http://schemas.openxmlformats.org/drawingml/2006/table">
            <a:tbl>
              <a:tblPr/>
              <a:tblGrid>
                <a:gridCol w="647648">
                  <a:extLst>
                    <a:ext uri="{9D8B030D-6E8A-4147-A177-3AD203B41FA5}">
                      <a16:colId xmlns:a16="http://schemas.microsoft.com/office/drawing/2014/main" val="2096742914"/>
                    </a:ext>
                  </a:extLst>
                </a:gridCol>
              </a:tblGrid>
              <a:tr h="170402">
                <a:tc>
                  <a:txBody>
                    <a:bodyPr/>
                    <a:lstStyle/>
                    <a:p>
                      <a:pPr rtl="0" fontAlgn="b"/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V_LF (pu)</a:t>
                      </a:r>
                      <a:endParaRPr lang="en-US" sz="500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12656" marR="12656" marT="8438" marB="843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0368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0.9953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47407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0.9728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15140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0.9607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15744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0.9487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05228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5803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0.9133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5101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0.8911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96380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0.8808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82936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0.8713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08952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0620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0.8674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3333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0.8574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2464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0.8536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104391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0.8513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74363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0.849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56306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0.8457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290803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0.8447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18101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0.9945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0817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11731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0.9879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31274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0.9869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82571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0.9672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0537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0.9568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19760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0.9516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970362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09055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0.9117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903531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0.8933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7950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89018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0.8742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79859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0.8675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486254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2308"/>
                  </a:ext>
                </a:extLst>
              </a:tr>
              <a:tr h="1514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>
                          <a:effectLst/>
                        </a:rPr>
                        <a:t>0.8656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662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8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490CE-976F-9E47-BDBF-FA5A73D1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243DA-E805-5EE1-195A-2516F07CBBA0}"/>
              </a:ext>
            </a:extLst>
          </p:cNvPr>
          <p:cNvSpPr txBox="1"/>
          <p:nvPr/>
        </p:nvSpPr>
        <p:spPr>
          <a:xfrm>
            <a:off x="561600" y="476674"/>
            <a:ext cx="53785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MATLAB GA</a:t>
            </a:r>
            <a:r>
              <a:rPr lang="ko-KR" altLang="en-US" sz="2600" b="1" spc="-80">
                <a:solidFill>
                  <a:srgbClr val="004C86"/>
                </a:solidFill>
              </a:rPr>
              <a:t>방식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468F5-70F1-E61A-C13E-EF6DF1AA0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30" y="1086258"/>
            <a:ext cx="382188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004C86"/>
                </a:solidFill>
                <a:effectLst/>
                <a:latin typeface="Arial"/>
                <a:ea typeface="맑은 고딕"/>
                <a:cs typeface="Arial"/>
              </a:rPr>
              <a:t>유전 알고리즘(GA) 설정 시작</a:t>
            </a:r>
            <a:endParaRPr kumimoji="0" lang="en-US" altLang="ko-KR" b="1" i="0" u="none" strike="noStrike" cap="none" normalizeH="0" baseline="0">
              <a:ln>
                <a:noFill/>
              </a:ln>
              <a:solidFill>
                <a:srgbClr val="004C86"/>
              </a:solidFill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options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 = </a:t>
            </a: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optimoptions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('</a:t>
            </a: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ga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’);</a:t>
            </a:r>
            <a:r>
              <a:rPr kumimoji="0" lang="ko-KR" altLang="ko-KR" sz="1100" i="0" u="none" strike="noStrike" cap="none" normalizeH="0" baseline="0">
                <a:ln>
                  <a:noFill/>
                </a:ln>
                <a:effectLst/>
                <a:ea typeface="맑은 고딕"/>
              </a:rPr>
              <a:t> </a:t>
            </a:r>
            <a:endParaRPr kumimoji="0" lang="ko-KR" altLang="ko-KR" sz="40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맑은 고딕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Arial"/>
                <a:ea typeface="맑은 고딕"/>
                <a:cs typeface="Arial"/>
              </a:rPr>
              <a:t>유전 알고리즘 실행을 위한 기본 설정(옵션) 객체 생성</a:t>
            </a:r>
            <a:endParaRPr kumimoji="0" lang="en-US" altLang="ko-KR" sz="1200" i="0" u="none" strike="noStrike" cap="none" normalizeH="0" baseline="0">
              <a:ln>
                <a:noFill/>
              </a:ln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Arial"/>
                <a:ea typeface="맑은 고딕"/>
                <a:cs typeface="Arial"/>
              </a:rPr>
              <a:t>GA 작동 방식을 정의하는 '지침서' 준비 단계</a:t>
            </a:r>
            <a:endParaRPr lang="ko-KR" altLang="ko-KR" sz="1200" i="0" u="none" strike="noStrike" cap="none" normalizeH="0" baseline="0">
              <a:ln>
                <a:noFill/>
              </a:ln>
              <a:effectLst/>
              <a:latin typeface="Arial"/>
              <a:ea typeface="맑은 고딕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071233-BF07-71CB-0AB4-FF16F9BF6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30" y="2628781"/>
            <a:ext cx="597952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004C86"/>
                </a:solidFill>
                <a:effectLst/>
                <a:latin typeface="Arial"/>
                <a:ea typeface="맑은 고딕"/>
                <a:cs typeface="Arial"/>
              </a:rPr>
              <a:t>최고의 해' 보존 전략</a:t>
            </a:r>
            <a:endParaRPr kumimoji="0" lang="en-US" altLang="ko-KR" b="1" i="0" u="none" strike="noStrike" cap="none" normalizeH="0" baseline="0">
              <a:ln>
                <a:noFill/>
              </a:ln>
              <a:solidFill>
                <a:srgbClr val="004C86"/>
              </a:solidFill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options.EliteCount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 = </a:t>
            </a: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ceil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(0.05 * </a:t>
            </a: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options.PopulationSize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);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ea typeface="맑은 고딕"/>
              </a:rPr>
              <a:t> </a:t>
            </a:r>
            <a:endParaRPr kumimoji="0" lang="ko-KR" altLang="ko-KR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맑은 고딕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Arial"/>
                <a:ea typeface="맑은 고딕"/>
                <a:cs typeface="Arial"/>
              </a:rPr>
              <a:t>매 세대 가장 우수한 상위 5% 개체는 변화 없이 다음 세대로 보존. </a:t>
            </a:r>
            <a:endParaRPr kumimoji="0" lang="en-US" altLang="ko-KR" sz="1200" i="0" u="none" strike="noStrike" cap="none" normalizeH="0" baseline="0">
              <a:ln>
                <a:noFill/>
              </a:ln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Arial"/>
                <a:ea typeface="맑은 고딕"/>
                <a:cs typeface="Arial"/>
              </a:rPr>
              <a:t>이미 찾은 좋은 해를 보호하여 성능 퇴보 방지.</a:t>
            </a:r>
            <a:endParaRPr lang="ko-KR" altLang="ko-KR" sz="1200" i="0" u="none" strike="noStrike" cap="none" normalizeH="0" baseline="0">
              <a:ln>
                <a:noFill/>
              </a:ln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A5431-CE51-2393-110C-BBE3D856B113}"/>
              </a:ext>
            </a:extLst>
          </p:cNvPr>
          <p:cNvSpPr txBox="1"/>
          <p:nvPr/>
        </p:nvSpPr>
        <p:spPr>
          <a:xfrm>
            <a:off x="319731" y="4543858"/>
            <a:ext cx="5979521" cy="19236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004C86"/>
                </a:solidFill>
                <a:effectLst/>
                <a:latin typeface="Arial"/>
                <a:ea typeface="맑은 고딕"/>
                <a:cs typeface="Arial"/>
              </a:rPr>
              <a:t>새로운 해</a:t>
            </a:r>
            <a:r>
              <a:rPr lang="en-US" altLang="ko-KR" b="1">
                <a:solidFill>
                  <a:srgbClr val="004C86"/>
                </a:solidFill>
                <a:latin typeface="Arial"/>
                <a:ea typeface="맑은 고딕"/>
                <a:cs typeface="Arial"/>
              </a:rPr>
              <a:t> </a:t>
            </a: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004C86"/>
                </a:solidFill>
                <a:effectLst/>
                <a:latin typeface="Arial"/>
                <a:ea typeface="맑은 고딕"/>
                <a:cs typeface="Arial"/>
              </a:rPr>
              <a:t>탐색 &amp; 다양성 확보</a:t>
            </a:r>
            <a:endParaRPr kumimoji="0" lang="en-US" altLang="ko-KR" b="1" i="0" u="none" strike="noStrike" cap="none" normalizeH="0" baseline="0">
              <a:ln>
                <a:noFill/>
              </a:ln>
              <a:solidFill>
                <a:srgbClr val="004C86"/>
              </a:solidFill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options.CrossoverFraction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 = 0.8;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ea typeface="맑은 고딕"/>
              </a:rPr>
              <a:t> </a:t>
            </a:r>
            <a:endParaRPr kumimoji="0" lang="ko-KR" altLang="ko-KR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맑은 고딕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i="0" u="none" strike="noStrike" cap="none" normalizeH="0" baseline="0" err="1">
                <a:ln>
                  <a:noFill/>
                </a:ln>
                <a:effectLst/>
                <a:latin typeface="Arial Unicode MS"/>
                <a:ea typeface="맑은 고딕"/>
              </a:rPr>
              <a:t>options.MutationFcn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latin typeface="Arial Unicode MS"/>
                <a:ea typeface="맑은 고딕"/>
              </a:rPr>
              <a:t> = @mutationadaptfeasible;</a:t>
            </a:r>
            <a:r>
              <a:rPr kumimoji="0" lang="ko-KR" altLang="ko-KR" i="0" u="none" strike="noStrike" cap="none" normalizeH="0" baseline="0">
                <a:ln>
                  <a:noFill/>
                </a:ln>
                <a:effectLst/>
                <a:ea typeface="맑은 고딕"/>
              </a:rPr>
              <a:t> </a:t>
            </a:r>
            <a:endParaRPr kumimoji="0" lang="en-US" altLang="ko-KR" i="0" u="none" strike="noStrike" cap="none" normalizeH="0" baseline="0">
              <a:ln>
                <a:noFill/>
              </a:ln>
              <a:effectLst/>
              <a:ea typeface="맑은 고딕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>
                <a:latin typeface="Arial"/>
                <a:ea typeface="맑은 고딕"/>
                <a:cs typeface="Arial"/>
              </a:rPr>
              <a:t>교차</a:t>
            </a:r>
            <a:r>
              <a:rPr lang="en-US" altLang="ko-KR" sz="1200">
                <a:latin typeface="Arial"/>
                <a:ea typeface="맑은 고딕"/>
                <a:cs typeface="Arial"/>
              </a:rPr>
              <a:t> :</a:t>
            </a:r>
            <a:r>
              <a:rPr lang="ko-KR" altLang="en-US" sz="1200">
                <a:latin typeface="Arial"/>
                <a:ea typeface="맑은 고딕"/>
                <a:cs typeface="Arial"/>
              </a:rPr>
              <a:t> </a:t>
            </a:r>
            <a:r>
              <a:rPr lang="ko-KR" altLang="ko-KR" sz="1200">
                <a:latin typeface="Arial"/>
                <a:ea typeface="맑은 고딕"/>
                <a:cs typeface="Arial"/>
              </a:rPr>
              <a:t>부모 해의 특성을 조합해 새로운 해 생성</a:t>
            </a:r>
            <a:r>
              <a:rPr lang="ko-KR" altLang="en-US" sz="1200">
                <a:latin typeface="Arial"/>
                <a:ea typeface="맑은 고딕"/>
                <a:cs typeface="Arial"/>
              </a:rPr>
              <a:t>하여 </a:t>
            </a:r>
            <a:r>
              <a:rPr lang="ko-KR" altLang="ko-KR" sz="1200">
                <a:latin typeface="Arial"/>
                <a:ea typeface="맑은 고딕"/>
                <a:cs typeface="Arial"/>
              </a:rPr>
              <a:t>새로운 가능성 탐색 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>
                <a:latin typeface="Arial"/>
                <a:ea typeface="맑은 고딕"/>
                <a:cs typeface="Arial"/>
              </a:rPr>
              <a:t>돌연변이</a:t>
            </a:r>
            <a:r>
              <a:rPr lang="en-US" altLang="ko-KR" sz="1200">
                <a:latin typeface="Arial"/>
                <a:ea typeface="맑은 고딕"/>
                <a:cs typeface="Arial"/>
              </a:rPr>
              <a:t> : </a:t>
            </a:r>
            <a:r>
              <a:rPr lang="ko-KR" altLang="ko-KR" sz="1200">
                <a:latin typeface="Arial"/>
                <a:ea typeface="맑은 고딕"/>
                <a:cs typeface="Arial"/>
              </a:rPr>
              <a:t>무작위 변화로 다양성 확보, 지역 최적화 탈출</a:t>
            </a:r>
            <a:endParaRPr lang="ko-KR" altLang="ko-KR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ea typeface="맑은 고딕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798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C206B-7425-16A1-3733-A1B587C3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5552930C-1469-8DB8-C2C2-18D60472B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5" y="717825"/>
            <a:ext cx="6126401" cy="5920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BA240-A9F4-955A-9C51-131354BB0714}"/>
              </a:ext>
            </a:extLst>
          </p:cNvPr>
          <p:cNvSpPr txBox="1"/>
          <p:nvPr/>
        </p:nvSpPr>
        <p:spPr>
          <a:xfrm>
            <a:off x="611560" y="471604"/>
            <a:ext cx="64807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MATLAB(</a:t>
            </a:r>
            <a:r>
              <a:rPr lang="ko-KR" altLang="en-US" sz="2600" b="1" spc="-80">
                <a:solidFill>
                  <a:srgbClr val="004C86"/>
                </a:solidFill>
              </a:rPr>
              <a:t>손실함수 준비단계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9F66329-F7CF-3170-262F-46542AC81428}"/>
              </a:ext>
            </a:extLst>
          </p:cNvPr>
          <p:cNvGrpSpPr/>
          <p:nvPr/>
        </p:nvGrpSpPr>
        <p:grpSpPr>
          <a:xfrm>
            <a:off x="4572000" y="4795296"/>
            <a:ext cx="4261653" cy="646332"/>
            <a:chOff x="4067945" y="1879416"/>
            <a:chExt cx="4261653" cy="646332"/>
          </a:xfrm>
        </p:grpSpPr>
        <p:sp>
          <p:nvSpPr>
            <p:cNvPr id="13" name="오른쪽 화살표[R] 12">
              <a:extLst>
                <a:ext uri="{FF2B5EF4-FFF2-40B4-BE49-F238E27FC236}">
                  <a16:creationId xmlns:a16="http://schemas.microsoft.com/office/drawing/2014/main" id="{8E47AC03-4E54-8183-2B8B-AE056D4B1AC7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18C913E3-D2AE-0E9E-FDFF-4E45D6B20832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latin typeface="+mn-ea"/>
                </a:rPr>
                <a:t>손실함수에서 사용할</a:t>
              </a:r>
              <a:endParaRPr kumimoji="1" lang="en-US" altLang="en-US" sz="1500">
                <a:latin typeface="+mn-ea"/>
              </a:endParaRPr>
            </a:p>
            <a:p>
              <a:pPr algn="ctr"/>
              <a:r>
                <a:rPr kumimoji="1" lang="en-US" altLang="en-US" sz="1500">
                  <a:latin typeface="+mn-ea"/>
                </a:rPr>
                <a:t>PENALTY</a:t>
              </a:r>
              <a:r>
                <a:rPr kumimoji="1" lang="ko-KR" altLang="en-US" sz="1500">
                  <a:latin typeface="+mn-ea"/>
                </a:rPr>
                <a:t>와 </a:t>
              </a:r>
              <a:r>
                <a:rPr kumimoji="1" lang="en-US" altLang="ko-KR" sz="1500">
                  <a:latin typeface="+mn-ea"/>
                </a:rPr>
                <a:t>REWARD</a:t>
              </a:r>
              <a:r>
                <a:rPr kumimoji="1" lang="ko-KR" altLang="en-US" sz="1500">
                  <a:latin typeface="+mn-ea"/>
                </a:rPr>
                <a:t>를 설정</a:t>
              </a:r>
              <a:endParaRPr kumimoji="1" lang="ko-Kore-KR" altLang="en-US" sz="1500">
                <a:latin typeface="+mn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1E9B73B-6CEA-1896-6FBB-BD19DE00A016}"/>
              </a:ext>
            </a:extLst>
          </p:cNvPr>
          <p:cNvGrpSpPr/>
          <p:nvPr/>
        </p:nvGrpSpPr>
        <p:grpSpPr>
          <a:xfrm>
            <a:off x="4572000" y="2804355"/>
            <a:ext cx="4261653" cy="646332"/>
            <a:chOff x="4067945" y="1879416"/>
            <a:chExt cx="4261653" cy="646332"/>
          </a:xfrm>
        </p:grpSpPr>
        <p:sp>
          <p:nvSpPr>
            <p:cNvPr id="24" name="오른쪽 화살표[R] 12">
              <a:extLst>
                <a:ext uri="{FF2B5EF4-FFF2-40B4-BE49-F238E27FC236}">
                  <a16:creationId xmlns:a16="http://schemas.microsoft.com/office/drawing/2014/main" id="{96D3C4A1-4991-7100-CAA1-AFBCD640E39B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" name="모서리가 둥근 직사각형 13">
              <a:extLst>
                <a:ext uri="{FF2B5EF4-FFF2-40B4-BE49-F238E27FC236}">
                  <a16:creationId xmlns:a16="http://schemas.microsoft.com/office/drawing/2014/main" id="{13190D48-55C1-F2A9-B152-2441B78E5C2C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latin typeface="+mn-ea"/>
                </a:rPr>
                <a:t>각 버스 전압들의 제약 조건 </a:t>
              </a:r>
              <a:endParaRPr kumimoji="1" lang="en-US" altLang="ko-KR" sz="1500">
                <a:latin typeface="+mn-ea"/>
              </a:endParaRPr>
            </a:p>
            <a:p>
              <a:pPr algn="ctr"/>
              <a:r>
                <a:rPr kumimoji="1" lang="ko-KR" altLang="en-US" sz="1500">
                  <a:latin typeface="+mn-ea"/>
                </a:rPr>
                <a:t>위반 여부 확인</a:t>
              </a:r>
              <a:endParaRPr kumimoji="1" lang="ko-Kore-KR" altLang="en-US" sz="1500">
                <a:latin typeface="+mn-ea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3CA2233-A4F4-3E3F-DA93-7890B8BE2E4F}"/>
              </a:ext>
            </a:extLst>
          </p:cNvPr>
          <p:cNvGrpSpPr/>
          <p:nvPr/>
        </p:nvGrpSpPr>
        <p:grpSpPr>
          <a:xfrm>
            <a:off x="4572000" y="1574925"/>
            <a:ext cx="4261653" cy="646332"/>
            <a:chOff x="4067945" y="1879416"/>
            <a:chExt cx="4261653" cy="646332"/>
          </a:xfrm>
        </p:grpSpPr>
        <p:sp>
          <p:nvSpPr>
            <p:cNvPr id="30" name="오른쪽 화살표[R] 12">
              <a:extLst>
                <a:ext uri="{FF2B5EF4-FFF2-40B4-BE49-F238E27FC236}">
                  <a16:creationId xmlns:a16="http://schemas.microsoft.com/office/drawing/2014/main" id="{41B8FFEE-C9E7-04A0-43DF-22CFFC96A374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" name="모서리가 둥근 직사각형 13">
              <a:extLst>
                <a:ext uri="{FF2B5EF4-FFF2-40B4-BE49-F238E27FC236}">
                  <a16:creationId xmlns:a16="http://schemas.microsoft.com/office/drawing/2014/main" id="{4997CE26-0B96-FA3F-BC9B-99737F588186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latin typeface="+mn-ea"/>
                </a:rPr>
                <a:t>허용 전압</a:t>
              </a:r>
              <a:r>
                <a:rPr kumimoji="1" lang="en-US" altLang="ko-KR" sz="1500">
                  <a:latin typeface="+mn-ea"/>
                </a:rPr>
                <a:t>(PU)</a:t>
              </a:r>
              <a:r>
                <a:rPr kumimoji="1" lang="ko-KR" altLang="en-US" sz="1500">
                  <a:latin typeface="+mn-ea"/>
                </a:rPr>
                <a:t>의 범위 설정</a:t>
              </a:r>
              <a:endParaRPr kumimoji="1" lang="ko-Kore-KR" altLang="en-US" sz="150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9913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C966E-53A2-A8AF-C7B9-00FB3322A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4C2546-7B6E-1269-2372-A6BF4E65664E}"/>
              </a:ext>
            </a:extLst>
          </p:cNvPr>
          <p:cNvSpPr txBox="1"/>
          <p:nvPr/>
        </p:nvSpPr>
        <p:spPr>
          <a:xfrm>
            <a:off x="561600" y="476674"/>
            <a:ext cx="67467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–MATLAB(</a:t>
            </a:r>
            <a:r>
              <a:rPr lang="ko-KR" altLang="en-US" sz="2600" b="1" spc="-80">
                <a:solidFill>
                  <a:srgbClr val="004C86"/>
                </a:solidFill>
              </a:rPr>
              <a:t>손실함수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EB0E65-9418-D15E-73F0-BBB8D034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6712"/>
            <a:ext cx="6084168" cy="580526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B4FA822-8A2D-9FC8-4F4C-BBA3878CC509}"/>
              </a:ext>
            </a:extLst>
          </p:cNvPr>
          <p:cNvGrpSpPr/>
          <p:nvPr/>
        </p:nvGrpSpPr>
        <p:grpSpPr>
          <a:xfrm>
            <a:off x="4716015" y="2026264"/>
            <a:ext cx="4261653" cy="646332"/>
            <a:chOff x="4067945" y="1879416"/>
            <a:chExt cx="4261653" cy="646332"/>
          </a:xfrm>
        </p:grpSpPr>
        <p:sp>
          <p:nvSpPr>
            <p:cNvPr id="9" name="오른쪽 화살표[R] 12">
              <a:extLst>
                <a:ext uri="{FF2B5EF4-FFF2-40B4-BE49-F238E27FC236}">
                  <a16:creationId xmlns:a16="http://schemas.microsoft.com/office/drawing/2014/main" id="{66EF8310-BD92-DB8F-3785-97FFC0B324B1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" name="모서리가 둥근 직사각형 13">
              <a:extLst>
                <a:ext uri="{FF2B5EF4-FFF2-40B4-BE49-F238E27FC236}">
                  <a16:creationId xmlns:a16="http://schemas.microsoft.com/office/drawing/2014/main" id="{AB389719-CDB1-E8EC-DE90-19A113D4A5B2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latin typeface="+mn-ea"/>
                </a:rPr>
                <a:t>전압이 범위 밖이면 보상을</a:t>
              </a:r>
              <a:endParaRPr kumimoji="1" lang="en-US" altLang="ko-KR" sz="1500">
                <a:latin typeface="+mn-ea"/>
              </a:endParaRPr>
            </a:p>
            <a:p>
              <a:pPr algn="ctr"/>
              <a:r>
                <a:rPr kumimoji="1" lang="ko-KR" altLang="en-US" sz="1500">
                  <a:latin typeface="+mn-ea"/>
                </a:rPr>
                <a:t>매우 큰 음수로 만들기</a:t>
              </a:r>
              <a:endParaRPr kumimoji="1" lang="ko-Kore-KR" altLang="en-US" sz="1500">
                <a:latin typeface="+mn-ea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98C6A92-50C1-BC2E-1C80-ACB736ECAB21}"/>
              </a:ext>
            </a:extLst>
          </p:cNvPr>
          <p:cNvGrpSpPr/>
          <p:nvPr/>
        </p:nvGrpSpPr>
        <p:grpSpPr>
          <a:xfrm>
            <a:off x="4716015" y="3073592"/>
            <a:ext cx="4261653" cy="646332"/>
            <a:chOff x="4067945" y="1879416"/>
            <a:chExt cx="4261653" cy="646332"/>
          </a:xfrm>
        </p:grpSpPr>
        <p:sp>
          <p:nvSpPr>
            <p:cNvPr id="12" name="오른쪽 화살표[R] 12">
              <a:extLst>
                <a:ext uri="{FF2B5EF4-FFF2-40B4-BE49-F238E27FC236}">
                  <a16:creationId xmlns:a16="http://schemas.microsoft.com/office/drawing/2014/main" id="{CC65ECA6-C54C-6175-BCFD-36FF12E57E81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" name="모서리가 둥근 직사각형 13">
              <a:extLst>
                <a:ext uri="{FF2B5EF4-FFF2-40B4-BE49-F238E27FC236}">
                  <a16:creationId xmlns:a16="http://schemas.microsoft.com/office/drawing/2014/main" id="{F5B7BB79-E43F-8617-A086-A8587554784A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latin typeface="+mn-ea"/>
                </a:rPr>
                <a:t>각 버스의 전압이 범위 내라면</a:t>
              </a:r>
              <a:endParaRPr kumimoji="1" lang="en-US" altLang="ko-KR" sz="1500">
                <a:latin typeface="+mn-ea"/>
              </a:endParaRPr>
            </a:p>
            <a:p>
              <a:pPr algn="ctr"/>
              <a:r>
                <a:rPr kumimoji="1" lang="ko-KR" altLang="en-US" sz="1500">
                  <a:latin typeface="+mn-ea"/>
                </a:rPr>
                <a:t> 설정한 </a:t>
              </a:r>
              <a:r>
                <a:rPr kumimoji="1" lang="en-US" altLang="ko-KR" sz="1500">
                  <a:latin typeface="+mn-ea"/>
                </a:rPr>
                <a:t>PENALTY</a:t>
              </a:r>
              <a:r>
                <a:rPr kumimoji="1" lang="ko-KR" altLang="en-US" sz="1500">
                  <a:latin typeface="+mn-ea"/>
                </a:rPr>
                <a:t>와 </a:t>
              </a:r>
              <a:r>
                <a:rPr kumimoji="1" lang="en-US" altLang="ko-KR" sz="1500">
                  <a:latin typeface="+mn-ea"/>
                </a:rPr>
                <a:t>REWARD</a:t>
              </a:r>
              <a:r>
                <a:rPr kumimoji="1" lang="ko-KR" altLang="en-US" sz="1500">
                  <a:latin typeface="+mn-ea"/>
                </a:rPr>
                <a:t>로 조정</a:t>
              </a:r>
              <a:endParaRPr kumimoji="1" lang="ko-Kore-KR" altLang="en-US" sz="1500">
                <a:latin typeface="+mn-ea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D0AB75-D8DB-6BE1-88B6-354A480394B3}"/>
              </a:ext>
            </a:extLst>
          </p:cNvPr>
          <p:cNvGrpSpPr/>
          <p:nvPr/>
        </p:nvGrpSpPr>
        <p:grpSpPr>
          <a:xfrm>
            <a:off x="4716015" y="5301208"/>
            <a:ext cx="4261653" cy="646332"/>
            <a:chOff x="4067945" y="1879416"/>
            <a:chExt cx="4261653" cy="646332"/>
          </a:xfrm>
        </p:grpSpPr>
        <p:sp>
          <p:nvSpPr>
            <p:cNvPr id="18" name="오른쪽 화살표[R] 12">
              <a:extLst>
                <a:ext uri="{FF2B5EF4-FFF2-40B4-BE49-F238E27FC236}">
                  <a16:creationId xmlns:a16="http://schemas.microsoft.com/office/drawing/2014/main" id="{2C2F33BD-0716-6DD7-80ED-C030DC085CA4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9" name="모서리가 둥근 직사각형 13">
              <a:extLst>
                <a:ext uri="{FF2B5EF4-FFF2-40B4-BE49-F238E27FC236}">
                  <a16:creationId xmlns:a16="http://schemas.microsoft.com/office/drawing/2014/main" id="{7F5DF722-04D3-7E0A-1D2D-BAB520E68A16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latin typeface="+mn-ea"/>
                </a:rPr>
                <a:t>손실에 전체 보상 음수화 후 대입</a:t>
              </a:r>
              <a:endParaRPr kumimoji="1" lang="ko-Kore-KR" altLang="en-US" sz="150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4334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04E74-2AB9-0501-784E-DA565AC8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C32154-0FD5-6510-A115-AEF34EE32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99" y="820554"/>
            <a:ext cx="6120000" cy="579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A0C2C7-FC68-0402-E419-96F7A976AD52}"/>
              </a:ext>
            </a:extLst>
          </p:cNvPr>
          <p:cNvSpPr txBox="1"/>
          <p:nvPr/>
        </p:nvSpPr>
        <p:spPr>
          <a:xfrm>
            <a:off x="561600" y="476674"/>
            <a:ext cx="67467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–MATLAB(</a:t>
            </a:r>
            <a:r>
              <a:rPr lang="ko-KR" altLang="en-US" sz="2600" b="1" spc="-80">
                <a:solidFill>
                  <a:srgbClr val="004C86"/>
                </a:solidFill>
              </a:rPr>
              <a:t>손실함수</a:t>
            </a:r>
            <a:r>
              <a:rPr lang="en-US" altLang="ko-KR" sz="2600" b="1" spc="-80">
                <a:solidFill>
                  <a:srgbClr val="004C86"/>
                </a:solidFill>
              </a:rPr>
              <a:t>)</a:t>
            </a:r>
            <a:endParaRPr lang="ko-KR" altLang="en-US" sz="2600" b="1" spc="-80">
              <a:solidFill>
                <a:srgbClr val="004C86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51C0979-7E76-8602-756C-604F64250476}"/>
              </a:ext>
            </a:extLst>
          </p:cNvPr>
          <p:cNvGrpSpPr/>
          <p:nvPr/>
        </p:nvGrpSpPr>
        <p:grpSpPr>
          <a:xfrm>
            <a:off x="4716015" y="3073592"/>
            <a:ext cx="4261653" cy="646332"/>
            <a:chOff x="4067945" y="1879416"/>
            <a:chExt cx="4261653" cy="646332"/>
          </a:xfrm>
        </p:grpSpPr>
        <p:sp>
          <p:nvSpPr>
            <p:cNvPr id="12" name="오른쪽 화살표[R] 12">
              <a:extLst>
                <a:ext uri="{FF2B5EF4-FFF2-40B4-BE49-F238E27FC236}">
                  <a16:creationId xmlns:a16="http://schemas.microsoft.com/office/drawing/2014/main" id="{562B435C-556C-5EE1-39A1-4C61A1E53C05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" name="모서리가 둥근 직사각형 13">
              <a:extLst>
                <a:ext uri="{FF2B5EF4-FFF2-40B4-BE49-F238E27FC236}">
                  <a16:creationId xmlns:a16="http://schemas.microsoft.com/office/drawing/2014/main" id="{B68A18D2-4810-134D-D730-461376BD8851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en-US" sz="1500">
                  <a:latin typeface="+mn-ea"/>
                </a:rPr>
                <a:t>GA</a:t>
              </a:r>
              <a:r>
                <a:rPr kumimoji="1" lang="ko-KR" altLang="en-US" sz="1500">
                  <a:latin typeface="+mn-ea"/>
                </a:rPr>
                <a:t> 파라미터 설정</a:t>
              </a:r>
              <a:endParaRPr kumimoji="1" lang="ko-Kore-KR" altLang="en-US" sz="1500">
                <a:latin typeface="+mn-ea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85D1F5B-C4B6-54B9-38A7-B0A770DF1210}"/>
              </a:ext>
            </a:extLst>
          </p:cNvPr>
          <p:cNvGrpSpPr/>
          <p:nvPr/>
        </p:nvGrpSpPr>
        <p:grpSpPr>
          <a:xfrm>
            <a:off x="4710683" y="5085184"/>
            <a:ext cx="4261653" cy="646332"/>
            <a:chOff x="4067945" y="1879416"/>
            <a:chExt cx="4261653" cy="646332"/>
          </a:xfrm>
        </p:grpSpPr>
        <p:sp>
          <p:nvSpPr>
            <p:cNvPr id="18" name="오른쪽 화살표[R] 12">
              <a:extLst>
                <a:ext uri="{FF2B5EF4-FFF2-40B4-BE49-F238E27FC236}">
                  <a16:creationId xmlns:a16="http://schemas.microsoft.com/office/drawing/2014/main" id="{70CC0E3B-10F4-7D05-03D8-95B8F771D9B9}"/>
                </a:ext>
              </a:extLst>
            </p:cNvPr>
            <p:cNvSpPr/>
            <p:nvPr/>
          </p:nvSpPr>
          <p:spPr>
            <a:xfrm rot="10800000">
              <a:off x="4067945" y="1973061"/>
              <a:ext cx="927099" cy="431263"/>
            </a:xfrm>
            <a:prstGeom prst="rightArrow">
              <a:avLst>
                <a:gd name="adj1" fmla="val 50000"/>
                <a:gd name="adj2" fmla="val 68308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9" name="모서리가 둥근 직사각형 13">
              <a:extLst>
                <a:ext uri="{FF2B5EF4-FFF2-40B4-BE49-F238E27FC236}">
                  <a16:creationId xmlns:a16="http://schemas.microsoft.com/office/drawing/2014/main" id="{C9B3A8AA-12E4-5EFB-4A46-75B3054C5E7C}"/>
                </a:ext>
              </a:extLst>
            </p:cNvPr>
            <p:cNvSpPr/>
            <p:nvPr/>
          </p:nvSpPr>
          <p:spPr>
            <a:xfrm>
              <a:off x="4662487" y="1879416"/>
              <a:ext cx="3667111" cy="646332"/>
            </a:xfrm>
            <a:prstGeom prst="roundRect">
              <a:avLst>
                <a:gd name="adj" fmla="val 8425"/>
              </a:avLst>
            </a:prstGeom>
            <a:solidFill>
              <a:srgbClr val="004C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en-US" sz="1500">
                  <a:latin typeface="+mn-ea"/>
                </a:rPr>
                <a:t>GA </a:t>
              </a:r>
              <a:r>
                <a:rPr kumimoji="1" lang="ko-KR" altLang="en-US" sz="1500">
                  <a:latin typeface="+mn-ea"/>
                </a:rPr>
                <a:t>실행</a:t>
              </a:r>
              <a:endParaRPr kumimoji="1" lang="ko-Kore-KR" altLang="en-US" sz="150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56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BC77E-F7F4-AD47-0057-09023D5E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7493FC-F7A0-D282-E1EC-947B3F4C64AB}"/>
              </a:ext>
            </a:extLst>
          </p:cNvPr>
          <p:cNvSpPr txBox="1"/>
          <p:nvPr/>
        </p:nvSpPr>
        <p:spPr>
          <a:xfrm>
            <a:off x="561600" y="476674"/>
            <a:ext cx="64586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</a:rPr>
              <a:t>최적해 찾기 </a:t>
            </a:r>
            <a:r>
              <a:rPr lang="en-US" altLang="ko-KR" sz="2600" b="1" spc="-80">
                <a:solidFill>
                  <a:srgbClr val="004C86"/>
                </a:solidFill>
              </a:rPr>
              <a:t>– MATLAB 32cap</a:t>
            </a:r>
            <a:r>
              <a:rPr lang="ko-KR" altLang="en-US" sz="2600" b="1" spc="-80">
                <a:solidFill>
                  <a:srgbClr val="004C86"/>
                </a:solidFill>
              </a:rPr>
              <a:t>결과 분석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A8964B-509C-329B-3F90-A460DD66A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99" y="4149080"/>
            <a:ext cx="4248472" cy="19627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491363-7DC7-3E0D-E7D2-396DAFC2E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99" y="1700808"/>
            <a:ext cx="5112568" cy="22882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785158-0B8A-F285-81B1-E0F39F9BF439}"/>
              </a:ext>
            </a:extLst>
          </p:cNvPr>
          <p:cNvSpPr txBox="1"/>
          <p:nvPr/>
        </p:nvSpPr>
        <p:spPr>
          <a:xfrm>
            <a:off x="215976" y="1091326"/>
            <a:ext cx="680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165</a:t>
            </a:r>
            <a:r>
              <a:rPr lang="ko-KR" altLang="en-US" spc="-80"/>
              <a:t>세대까지 최적화 시킨 결과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D3334FE-68DB-9866-1657-AF578F579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1589795"/>
            <a:ext cx="2160240" cy="479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2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DBC4A-9A7B-6242-5711-AE929AEB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B89135-FB18-6502-8CAB-76D7051B1344}"/>
              </a:ext>
            </a:extLst>
          </p:cNvPr>
          <p:cNvSpPr txBox="1"/>
          <p:nvPr/>
        </p:nvSpPr>
        <p:spPr>
          <a:xfrm>
            <a:off x="611560" y="2001614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pc="-50">
                <a:solidFill>
                  <a:schemeClr val="bg1"/>
                </a:solidFill>
              </a:rPr>
              <a:t>최적해 찾기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28250-D3E1-1242-F51D-3D26F01881F5}"/>
              </a:ext>
            </a:extLst>
          </p:cNvPr>
          <p:cNvSpPr txBox="1"/>
          <p:nvPr/>
        </p:nvSpPr>
        <p:spPr>
          <a:xfrm>
            <a:off x="144924" y="2924944"/>
            <a:ext cx="7667436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4000"/>
              </a:lnSpc>
            </a:pPr>
            <a:r>
              <a:rPr lang="en-US" altLang="ko-Kore-KR" sz="2100" b="1" spc="-120">
                <a:solidFill>
                  <a:schemeClr val="bg1"/>
                </a:solidFill>
                <a:latin typeface="+mn-ea"/>
              </a:rPr>
              <a:t>MATLAB</a:t>
            </a:r>
            <a:r>
              <a:rPr lang="en-US" altLang="ko-KR" sz="2100" b="1" spc="-12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ko-Kore-KR" sz="2100" b="1" spc="-120">
                <a:solidFill>
                  <a:schemeClr val="bg1"/>
                </a:solidFill>
                <a:latin typeface="+mn-ea"/>
              </a:rPr>
              <a:t>PYTHON</a:t>
            </a:r>
            <a:r>
              <a:rPr lang="ko-Kore-KR" altLang="en-US" sz="2100" b="1" spc="-120">
                <a:solidFill>
                  <a:schemeClr val="bg1"/>
                </a:solidFill>
                <a:latin typeface="+mn-ea"/>
              </a:rPr>
              <a:t>의 결과를 조합하여</a:t>
            </a:r>
            <a:endParaRPr lang="en-US" altLang="ko-KR" sz="2100" b="1" spc="-12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537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8138-A803-C814-B606-0D5C0FEB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D0AF9-55A6-82B8-B2D6-959B1298774C}"/>
              </a:ext>
            </a:extLst>
          </p:cNvPr>
          <p:cNvSpPr txBox="1"/>
          <p:nvPr/>
        </p:nvSpPr>
        <p:spPr>
          <a:xfrm>
            <a:off x="281683" y="1717413"/>
            <a:ext cx="3628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b="1" spc="-80"/>
              <a:t> </a:t>
            </a:r>
            <a:endParaRPr lang="en-US" altLang="ko-KR" b="1" spc="-8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44B59-DFD3-6CB3-FF26-5560EBB5DB93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spc="-80" err="1">
                <a:solidFill>
                  <a:srgbClr val="004C86"/>
                </a:solidFill>
              </a:rPr>
              <a:t>커패시터</a:t>
            </a:r>
            <a:r>
              <a:rPr lang="ko-KR" altLang="en-US" sz="2600" b="1" spc="-80">
                <a:solidFill>
                  <a:srgbClr val="004C86"/>
                </a:solidFill>
              </a:rPr>
              <a:t> 설치 위치 한정</a:t>
            </a:r>
          </a:p>
        </p:txBody>
      </p:sp>
      <p:sp>
        <p:nvSpPr>
          <p:cNvPr id="7" name="사각형: 둥근 모서리 2">
            <a:extLst>
              <a:ext uri="{FF2B5EF4-FFF2-40B4-BE49-F238E27FC236}">
                <a16:creationId xmlns:a16="http://schemas.microsoft.com/office/drawing/2014/main" id="{58EB3168-5500-D137-DF24-D70EFD7664A8}"/>
              </a:ext>
            </a:extLst>
          </p:cNvPr>
          <p:cNvSpPr/>
          <p:nvPr/>
        </p:nvSpPr>
        <p:spPr>
          <a:xfrm>
            <a:off x="442564" y="1726257"/>
            <a:ext cx="8258872" cy="2218561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ko-KR" altLang="en-US" b="1" spc="-80"/>
              <a:t>매트랩과 </a:t>
            </a:r>
            <a:r>
              <a:rPr lang="ko-KR" altLang="en-US" b="1" spc="-80" err="1"/>
              <a:t>파이썬의</a:t>
            </a:r>
            <a:r>
              <a:rPr lang="ko-KR" altLang="en-US" b="1" spc="-80"/>
              <a:t> 결과 종합</a:t>
            </a:r>
            <a:endParaRPr lang="en-US" altLang="ko-KR" b="1" spc="-80"/>
          </a:p>
          <a:p>
            <a:pPr>
              <a:spcBef>
                <a:spcPts val="600"/>
              </a:spcBef>
            </a:pPr>
            <a:r>
              <a:rPr lang="ko-KR" altLang="en-US" spc="-80" err="1"/>
              <a:t>커패시터를</a:t>
            </a:r>
            <a:r>
              <a:rPr lang="ko-KR" altLang="en-US" spc="-80"/>
              <a:t> 설치할 수 있는 </a:t>
            </a:r>
            <a:r>
              <a:rPr lang="en-US" altLang="ko-KR" spc="-80"/>
              <a:t>bus </a:t>
            </a:r>
            <a:r>
              <a:rPr lang="ko-KR" altLang="en-US" spc="-80"/>
              <a:t>위치를 </a:t>
            </a:r>
            <a:endParaRPr lang="en-US" altLang="ko-KR" spc="-80"/>
          </a:p>
          <a:p>
            <a:pPr>
              <a:spcBef>
                <a:spcPts val="600"/>
              </a:spcBef>
            </a:pPr>
            <a:r>
              <a:rPr lang="en-US" altLang="ko-KR" b="1" spc="-80"/>
              <a:t>17,18,32,33</a:t>
            </a:r>
            <a:r>
              <a:rPr lang="en-US" altLang="ko-KR" spc="-80"/>
              <a:t>bus</a:t>
            </a:r>
            <a:r>
              <a:rPr lang="ko-KR" altLang="en-US" spc="-80"/>
              <a:t>로 한정하여 </a:t>
            </a:r>
            <a:r>
              <a:rPr lang="ko-KR" altLang="en-US" b="1" spc="-80"/>
              <a:t>다시 </a:t>
            </a:r>
            <a:r>
              <a:rPr lang="en-US" altLang="ko-KR" b="1" spc="-80"/>
              <a:t>GA </a:t>
            </a:r>
            <a:r>
              <a:rPr lang="ko-KR" altLang="en-US" b="1" spc="-80"/>
              <a:t>적용</a:t>
            </a:r>
            <a:endParaRPr lang="en-US" altLang="ko-KR" b="1" spc="-8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61E8B45-B343-9D84-A448-81D5673A5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519" y="4083458"/>
            <a:ext cx="5052331" cy="277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810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BC62-5E9D-61B3-EE0C-4F7340E3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3C2BE5-F3F9-A3C2-883F-0BA006DE9A81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spc="-80">
                <a:solidFill>
                  <a:srgbClr val="004C86"/>
                </a:solidFill>
              </a:rPr>
              <a:t>BUS17 BUS18 BUS32 BUS33 </a:t>
            </a:r>
            <a:r>
              <a:rPr lang="ko-KR" altLang="en-US" sz="2600" b="1" spc="-80" err="1">
                <a:solidFill>
                  <a:srgbClr val="004C86"/>
                </a:solidFill>
              </a:rPr>
              <a:t>中</a:t>
            </a:r>
            <a:r>
              <a:rPr lang="en-US" altLang="ko-KR" sz="2600" b="1" spc="-80">
                <a:solidFill>
                  <a:srgbClr val="004C86"/>
                </a:solidFill>
              </a:rPr>
              <a:t> 1</a:t>
            </a:r>
            <a:r>
              <a:rPr lang="ko-KR" altLang="en-US" sz="2600" b="1" spc="-80">
                <a:solidFill>
                  <a:srgbClr val="004C86"/>
                </a:solidFill>
              </a:rPr>
              <a:t>개 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r>
              <a:rPr lang="en-US" altLang="ko-KR" sz="2600" b="1" spc="-80">
                <a:solidFill>
                  <a:srgbClr val="004C86"/>
                </a:solidFill>
              </a:rPr>
              <a:t>C</a:t>
            </a:r>
            <a:r>
              <a:rPr lang="en-US" altLang="ko-KR" sz="1600" b="1" spc="-80">
                <a:solidFill>
                  <a:srgbClr val="004C86"/>
                </a:solidFill>
              </a:rPr>
              <a:t>1</a:t>
            </a:r>
            <a:endParaRPr lang="ko-KR" altLang="en-US" sz="1600" b="1" spc="-80">
              <a:solidFill>
                <a:srgbClr val="004C86"/>
              </a:solidFill>
            </a:endParaRPr>
          </a:p>
        </p:txBody>
      </p:sp>
      <p:sp>
        <p:nvSpPr>
          <p:cNvPr id="8" name="사각형: 둥근 모서리 2">
            <a:extLst>
              <a:ext uri="{FF2B5EF4-FFF2-40B4-BE49-F238E27FC236}">
                <a16:creationId xmlns:a16="http://schemas.microsoft.com/office/drawing/2014/main" id="{DF1E4D1C-EEEF-C11B-0838-8A2BE0136451}"/>
              </a:ext>
            </a:extLst>
          </p:cNvPr>
          <p:cNvSpPr/>
          <p:nvPr/>
        </p:nvSpPr>
        <p:spPr>
          <a:xfrm>
            <a:off x="442564" y="1717413"/>
            <a:ext cx="8258872" cy="2218561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ko-KR" b="1" spc="-80"/>
              <a:t>1</a:t>
            </a:r>
            <a:r>
              <a:rPr lang="ko-KR" altLang="en-US" b="1" spc="-80"/>
              <a:t>개 </a:t>
            </a:r>
            <a:r>
              <a:rPr lang="en-US" altLang="ko-KR" b="1" spc="-80"/>
              <a:t>Bus</a:t>
            </a:r>
            <a:r>
              <a:rPr lang="ko-KR" altLang="en-US" b="1" spc="-80"/>
              <a:t>에만 </a:t>
            </a:r>
            <a:r>
              <a:rPr lang="ko-KR" altLang="en-US" b="1" spc="-80" err="1"/>
              <a:t>커패시터를</a:t>
            </a:r>
            <a:r>
              <a:rPr lang="ko-KR" altLang="en-US" b="1" spc="-80"/>
              <a:t> 단 경우 </a:t>
            </a:r>
            <a:endParaRPr lang="en-US" altLang="ko-KR" b="1" spc="-80"/>
          </a:p>
          <a:p>
            <a:pPr>
              <a:spcBef>
                <a:spcPts val="600"/>
              </a:spcBef>
            </a:pPr>
            <a:r>
              <a:rPr lang="ko-KR" altLang="en-US" b="1" spc="-80" err="1"/>
              <a:t>커패시터를</a:t>
            </a:r>
            <a:r>
              <a:rPr lang="ko-KR" altLang="en-US" b="1" spc="-80"/>
              <a:t> 단 </a:t>
            </a:r>
            <a:r>
              <a:rPr lang="en-US" altLang="ko-KR" b="1" spc="-80"/>
              <a:t>Bus</a:t>
            </a:r>
            <a:r>
              <a:rPr lang="ko-KR" altLang="en-US" b="1" spc="-80"/>
              <a:t>의 전압이 </a:t>
            </a:r>
            <a:r>
              <a:rPr lang="en-US" altLang="ko-KR" b="1" spc="-80"/>
              <a:t>1.05pu</a:t>
            </a:r>
            <a:r>
              <a:rPr lang="ko-KR" altLang="en-US" b="1" spc="-80"/>
              <a:t>가 되도록 높은 용량을 설치하더라도</a:t>
            </a:r>
            <a:endParaRPr lang="en-US" altLang="ko-KR" b="1" spc="-80"/>
          </a:p>
          <a:p>
            <a:pPr>
              <a:spcBef>
                <a:spcPts val="600"/>
              </a:spcBef>
            </a:pPr>
            <a:r>
              <a:rPr lang="ko-KR" altLang="en-US" b="1" spc="-80"/>
              <a:t>다른 </a:t>
            </a:r>
            <a:r>
              <a:rPr lang="en-US" altLang="ko-KR" b="1" spc="-80"/>
              <a:t>Bus</a:t>
            </a:r>
            <a:r>
              <a:rPr lang="ko-KR" altLang="en-US" b="1" spc="-80"/>
              <a:t>의 전압이 </a:t>
            </a:r>
            <a:r>
              <a:rPr lang="en-US" altLang="ko-KR" b="1" spc="-80"/>
              <a:t>0.90</a:t>
            </a:r>
            <a:r>
              <a:rPr lang="ko-KR" altLang="en-US" b="1" spc="-80"/>
              <a:t> 미만에 그침</a:t>
            </a:r>
            <a:endParaRPr lang="en-US" altLang="ko-KR" b="1" spc="-80"/>
          </a:p>
        </p:txBody>
      </p:sp>
    </p:spTree>
    <p:extLst>
      <p:ext uri="{BB962C8B-B14F-4D97-AF65-F5344CB8AC3E}">
        <p14:creationId xmlns:p14="http://schemas.microsoft.com/office/powerpoint/2010/main" val="409414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44FE-0602-C6D0-9DEB-D8EB763A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393EA2-598B-6650-4A32-06AC0DC5412E}"/>
              </a:ext>
            </a:extLst>
          </p:cNvPr>
          <p:cNvSpPr txBox="1"/>
          <p:nvPr/>
        </p:nvSpPr>
        <p:spPr>
          <a:xfrm>
            <a:off x="262544" y="133886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BUS32</a:t>
            </a:r>
            <a:endParaRPr lang="ko-KR" altLang="en-US" spc="-8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2E0FC-B458-D8DE-F37A-9270B0A2D980}"/>
              </a:ext>
            </a:extLst>
          </p:cNvPr>
          <p:cNvSpPr txBox="1"/>
          <p:nvPr/>
        </p:nvSpPr>
        <p:spPr>
          <a:xfrm>
            <a:off x="238610" y="5618288"/>
            <a:ext cx="82218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600" b="1" spc="-80"/>
              <a:t>749 x 5 = 3745$ </a:t>
            </a:r>
            <a:r>
              <a:rPr lang="ko-KR" altLang="en-US" sz="1600" b="1" spc="-80"/>
              <a:t>이므로 </a:t>
            </a:r>
            <a:r>
              <a:rPr lang="ko-KR" altLang="en-US" sz="1600" b="1" spc="-80" err="1"/>
              <a:t>캐패시터를</a:t>
            </a:r>
            <a:r>
              <a:rPr lang="ko-KR" altLang="en-US" sz="1600" b="1" spc="-80"/>
              <a:t> </a:t>
            </a:r>
            <a:r>
              <a:rPr lang="en-US" altLang="ko-KR" sz="1600" b="1" spc="-80"/>
              <a:t>5</a:t>
            </a:r>
            <a:r>
              <a:rPr lang="ko-KR" altLang="en-US" sz="1600" b="1" spc="-80"/>
              <a:t>개 이상 설치하면 반드시 </a:t>
            </a:r>
            <a:r>
              <a:rPr lang="en-US" altLang="ko-KR" sz="1600" b="1" spc="-80"/>
              <a:t>3745$</a:t>
            </a:r>
            <a:r>
              <a:rPr lang="ko-KR" altLang="en-US" sz="1600" b="1" spc="-80"/>
              <a:t> 이상의 값을 갖음</a:t>
            </a:r>
            <a:endParaRPr lang="en-US" altLang="ko-KR" sz="1600" b="1" spc="-80"/>
          </a:p>
          <a:p>
            <a:pPr>
              <a:spcBef>
                <a:spcPts val="600"/>
              </a:spcBef>
            </a:pPr>
            <a:r>
              <a:rPr lang="en-US" altLang="ko-KR" sz="1600" b="1" spc="-80"/>
              <a:t>2</a:t>
            </a:r>
            <a:r>
              <a:rPr lang="ko-KR" altLang="en-US" sz="1600" b="1" spc="-80"/>
              <a:t>개로 했을 때 현재 최솟값이 </a:t>
            </a:r>
            <a:r>
              <a:rPr lang="en-US" altLang="ko-KR" sz="1600" b="1" spc="-80"/>
              <a:t>$ 3539.50 </a:t>
            </a:r>
            <a:r>
              <a:rPr lang="ko-KR" altLang="en-US" sz="1600" b="1" spc="-80"/>
              <a:t>이므로 </a:t>
            </a:r>
            <a:r>
              <a:rPr lang="en-US" altLang="ko-KR" sz="1600" b="1" spc="-80"/>
              <a:t>5</a:t>
            </a:r>
            <a:r>
              <a:rPr lang="ko-KR" altLang="en-US" sz="1600" b="1" spc="-80"/>
              <a:t>개 부터는 분석할 필요</a:t>
            </a:r>
            <a:r>
              <a:rPr lang="en-US" altLang="ko-KR" sz="1600" b="1" spc="-80"/>
              <a:t>X</a:t>
            </a:r>
          </a:p>
          <a:p>
            <a:pPr>
              <a:spcBef>
                <a:spcPts val="600"/>
              </a:spcBef>
            </a:pPr>
            <a:endParaRPr lang="en-US" altLang="ko-KR" sz="1400" b="1" spc="-8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2E341-A439-B1CD-0802-ADF5BC0BA80D}"/>
              </a:ext>
            </a:extLst>
          </p:cNvPr>
          <p:cNvSpPr txBox="1"/>
          <p:nvPr/>
        </p:nvSpPr>
        <p:spPr>
          <a:xfrm>
            <a:off x="5940152" y="2203911"/>
            <a:ext cx="105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>
                <a:highlight>
                  <a:srgbClr val="FFFF00"/>
                </a:highlight>
              </a:rPr>
              <a:t>$3539.50</a:t>
            </a:r>
            <a:endParaRPr lang="ko-KR" altLang="en-US" spc="-80">
              <a:highlight>
                <a:srgbClr val="FFFF00"/>
              </a:highligh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5D97E6-9553-FFAF-A215-9D427D335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44" y="1708193"/>
            <a:ext cx="4343776" cy="1360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82465D-0FAD-7F2B-FEB1-C162DE82E2A2}"/>
              </a:ext>
            </a:extLst>
          </p:cNvPr>
          <p:cNvSpPr txBox="1"/>
          <p:nvPr/>
        </p:nvSpPr>
        <p:spPr>
          <a:xfrm>
            <a:off x="262544" y="305966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BUS33</a:t>
            </a:r>
            <a:endParaRPr lang="ko-KR" altLang="en-US" spc="-8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0E11EC8-9C92-47B1-F913-ACDC34CD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06" y="3356992"/>
            <a:ext cx="4320914" cy="14234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FA969E1-D5B8-399F-D979-358E401AB2C8}"/>
              </a:ext>
            </a:extLst>
          </p:cNvPr>
          <p:cNvSpPr txBox="1"/>
          <p:nvPr/>
        </p:nvSpPr>
        <p:spPr>
          <a:xfrm>
            <a:off x="5952731" y="3645024"/>
            <a:ext cx="105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>
                <a:highlight>
                  <a:srgbClr val="FFFF00"/>
                </a:highlight>
              </a:rPr>
              <a:t>$3539.50</a:t>
            </a:r>
            <a:endParaRPr lang="ko-KR" altLang="en-US" spc="-8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82465D-0FAD-7F2B-FEB1-C162DE82E2A2}"/>
              </a:ext>
            </a:extLst>
          </p:cNvPr>
          <p:cNvSpPr txBox="1"/>
          <p:nvPr/>
        </p:nvSpPr>
        <p:spPr>
          <a:xfrm>
            <a:off x="238610" y="5149807"/>
            <a:ext cx="165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BUS18 </a:t>
            </a:r>
            <a:endParaRPr lang="ko-KR" altLang="en-US" spc="-8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53575D-B815-7AE9-3FEF-8980C5924286}"/>
              </a:ext>
            </a:extLst>
          </p:cNvPr>
          <p:cNvSpPr txBox="1"/>
          <p:nvPr/>
        </p:nvSpPr>
        <p:spPr>
          <a:xfrm>
            <a:off x="5958855" y="5051114"/>
            <a:ext cx="9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spc="-80"/>
              <a:t>불가능</a:t>
            </a:r>
            <a:endParaRPr lang="ko-KR" altLang="en-US" b="1"/>
          </a:p>
        </p:txBody>
      </p:sp>
      <p:sp>
        <p:nvSpPr>
          <p:cNvPr id="23" name="오른쪽 화살표[R] 12">
            <a:extLst>
              <a:ext uri="{FF2B5EF4-FFF2-40B4-BE49-F238E27FC236}">
                <a16:creationId xmlns:a16="http://schemas.microsoft.com/office/drawing/2014/main" id="{62619BFB-56BC-9214-886F-3F92FAC0BF66}"/>
              </a:ext>
            </a:extLst>
          </p:cNvPr>
          <p:cNvSpPr/>
          <p:nvPr/>
        </p:nvSpPr>
        <p:spPr>
          <a:xfrm>
            <a:off x="4805681" y="2297603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오른쪽 화살표[R] 12">
            <a:extLst>
              <a:ext uri="{FF2B5EF4-FFF2-40B4-BE49-F238E27FC236}">
                <a16:creationId xmlns:a16="http://schemas.microsoft.com/office/drawing/2014/main" id="{814CEDF4-48BB-921E-9A9E-C99D0517DC1C}"/>
              </a:ext>
            </a:extLst>
          </p:cNvPr>
          <p:cNvSpPr/>
          <p:nvPr/>
        </p:nvSpPr>
        <p:spPr>
          <a:xfrm>
            <a:off x="4788024" y="3789040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오른쪽 화살표[R] 12">
            <a:extLst>
              <a:ext uri="{FF2B5EF4-FFF2-40B4-BE49-F238E27FC236}">
                <a16:creationId xmlns:a16="http://schemas.microsoft.com/office/drawing/2014/main" id="{E8EC3D41-61FA-1E2E-C094-51C4E3829AA3}"/>
              </a:ext>
            </a:extLst>
          </p:cNvPr>
          <p:cNvSpPr/>
          <p:nvPr/>
        </p:nvSpPr>
        <p:spPr>
          <a:xfrm>
            <a:off x="4805681" y="5155094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55A09-67A6-08AE-17B2-D24D418B07A0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spc="-80">
                <a:solidFill>
                  <a:srgbClr val="004C86"/>
                </a:solidFill>
              </a:rPr>
              <a:t>BUS17 BUS18 BUS32 BUS33 </a:t>
            </a:r>
            <a:r>
              <a:rPr lang="ko-KR" altLang="en-US" sz="2600" b="1" spc="-80">
                <a:solidFill>
                  <a:srgbClr val="004C86"/>
                </a:solidFill>
              </a:rPr>
              <a:t>중</a:t>
            </a:r>
            <a:r>
              <a:rPr lang="en-US" altLang="ko-KR" sz="2600" b="1" spc="-80">
                <a:solidFill>
                  <a:srgbClr val="004C86"/>
                </a:solidFill>
              </a:rPr>
              <a:t> 2</a:t>
            </a:r>
            <a:r>
              <a:rPr lang="ko-KR" altLang="en-US" sz="2600" b="1" spc="-80">
                <a:solidFill>
                  <a:srgbClr val="004C86"/>
                </a:solidFill>
              </a:rPr>
              <a:t>개 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r>
              <a:rPr lang="en-US" altLang="ko-KR" sz="2600" b="1" spc="-80">
                <a:solidFill>
                  <a:srgbClr val="004C86"/>
                </a:solidFill>
              </a:rPr>
              <a:t>C</a:t>
            </a:r>
            <a:r>
              <a:rPr lang="en-US" altLang="ko-KR" sz="1600" b="1" spc="-80">
                <a:solidFill>
                  <a:srgbClr val="004C86"/>
                </a:solidFill>
              </a:rPr>
              <a:t>2</a:t>
            </a:r>
            <a:endParaRPr lang="ko-KR" altLang="en-US" sz="1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133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3489-F167-5074-8BF6-20CFF38B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E14272F-1F2D-6A9B-2814-AA75BD69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72816"/>
            <a:ext cx="4328535" cy="1790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B2A405-D863-21BC-A19E-DC7DB50E2007}"/>
              </a:ext>
            </a:extLst>
          </p:cNvPr>
          <p:cNvSpPr txBox="1"/>
          <p:nvPr/>
        </p:nvSpPr>
        <p:spPr>
          <a:xfrm>
            <a:off x="323528" y="136922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BUS18 BUS32 </a:t>
            </a:r>
            <a:endParaRPr lang="ko-KR" altLang="en-US" spc="-8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DE45F-B005-8038-DF42-6137BF68C1F9}"/>
              </a:ext>
            </a:extLst>
          </p:cNvPr>
          <p:cNvSpPr txBox="1"/>
          <p:nvPr/>
        </p:nvSpPr>
        <p:spPr>
          <a:xfrm>
            <a:off x="5940152" y="248360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$3600.975</a:t>
            </a:r>
            <a:endParaRPr lang="ko-KR" altLang="en-US" spc="-8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35FB8-0DEA-38ED-D1B0-6507F24579D6}"/>
              </a:ext>
            </a:extLst>
          </p:cNvPr>
          <p:cNvSpPr txBox="1"/>
          <p:nvPr/>
        </p:nvSpPr>
        <p:spPr>
          <a:xfrm>
            <a:off x="323528" y="357301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BUS18 BUS33</a:t>
            </a:r>
            <a:endParaRPr lang="ko-KR" altLang="en-US" spc="-8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8C4E9-0E38-8D85-EDFC-3191FD3ABE54}"/>
              </a:ext>
            </a:extLst>
          </p:cNvPr>
          <p:cNvSpPr txBox="1"/>
          <p:nvPr/>
        </p:nvSpPr>
        <p:spPr>
          <a:xfrm>
            <a:off x="323527" y="6093296"/>
            <a:ext cx="165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BUS32 BUS33 </a:t>
            </a:r>
            <a:endParaRPr lang="ko-KR" altLang="en-US" spc="-8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3C6612-8EAE-CFBA-8EA5-92103544DFD4}"/>
              </a:ext>
            </a:extLst>
          </p:cNvPr>
          <p:cNvSpPr txBox="1"/>
          <p:nvPr/>
        </p:nvSpPr>
        <p:spPr>
          <a:xfrm>
            <a:off x="5940152" y="6011994"/>
            <a:ext cx="9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spc="-80"/>
              <a:t>불가능</a:t>
            </a:r>
            <a:endParaRPr lang="ko-KR" altLang="en-US" b="1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86C06FBC-8A84-DAAD-C386-27FAF3AEA0EB}"/>
              </a:ext>
            </a:extLst>
          </p:cNvPr>
          <p:cNvSpPr/>
          <p:nvPr/>
        </p:nvSpPr>
        <p:spPr>
          <a:xfrm>
            <a:off x="4876131" y="2598981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오른쪽 화살표[R] 12">
            <a:extLst>
              <a:ext uri="{FF2B5EF4-FFF2-40B4-BE49-F238E27FC236}">
                <a16:creationId xmlns:a16="http://schemas.microsoft.com/office/drawing/2014/main" id="{492392CD-3C79-EE58-715E-A20BFA588C1C}"/>
              </a:ext>
            </a:extLst>
          </p:cNvPr>
          <p:cNvSpPr/>
          <p:nvPr/>
        </p:nvSpPr>
        <p:spPr>
          <a:xfrm>
            <a:off x="4876131" y="6105686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E4EED63-D7BB-D632-4E91-D027313E9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57" y="3946626"/>
            <a:ext cx="4320914" cy="1767993"/>
          </a:xfrm>
          <a:prstGeom prst="rect">
            <a:avLst/>
          </a:prstGeom>
        </p:spPr>
      </p:pic>
      <p:sp>
        <p:nvSpPr>
          <p:cNvPr id="19" name="오른쪽 화살표[R] 12">
            <a:extLst>
              <a:ext uri="{FF2B5EF4-FFF2-40B4-BE49-F238E27FC236}">
                <a16:creationId xmlns:a16="http://schemas.microsoft.com/office/drawing/2014/main" id="{7A02F31B-AB36-F286-B2A3-438B32588EDA}"/>
              </a:ext>
            </a:extLst>
          </p:cNvPr>
          <p:cNvSpPr/>
          <p:nvPr/>
        </p:nvSpPr>
        <p:spPr>
          <a:xfrm>
            <a:off x="4865887" y="4648675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0AA637-8A76-DCC4-BAE4-AA9495ACD9C9}"/>
              </a:ext>
            </a:extLst>
          </p:cNvPr>
          <p:cNvSpPr txBox="1"/>
          <p:nvPr/>
        </p:nvSpPr>
        <p:spPr>
          <a:xfrm>
            <a:off x="5934802" y="455498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$3623.475</a:t>
            </a:r>
            <a:endParaRPr lang="ko-KR" altLang="en-US" spc="-8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3FE94-27D8-6398-92F8-19D841BD7E49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spc="-80">
                <a:solidFill>
                  <a:srgbClr val="004C86"/>
                </a:solidFill>
              </a:rPr>
              <a:t>BUS17 BUS18 BUS32 BUS33 </a:t>
            </a:r>
            <a:r>
              <a:rPr lang="ko-KR" altLang="en-US" sz="2600" b="1" spc="-80">
                <a:solidFill>
                  <a:srgbClr val="004C86"/>
                </a:solidFill>
              </a:rPr>
              <a:t>중</a:t>
            </a:r>
            <a:r>
              <a:rPr lang="en-US" altLang="ko-KR" sz="2600" b="1" spc="-80">
                <a:solidFill>
                  <a:srgbClr val="004C86"/>
                </a:solidFill>
              </a:rPr>
              <a:t> 3</a:t>
            </a:r>
            <a:r>
              <a:rPr lang="ko-KR" altLang="en-US" sz="2600" b="1" spc="-80">
                <a:solidFill>
                  <a:srgbClr val="004C86"/>
                </a:solidFill>
              </a:rPr>
              <a:t>개 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r>
              <a:rPr lang="en-US" altLang="ko-KR" sz="2600" b="1" spc="-80">
                <a:solidFill>
                  <a:srgbClr val="004C86"/>
                </a:solidFill>
              </a:rPr>
              <a:t>C</a:t>
            </a:r>
            <a:r>
              <a:rPr lang="en-US" altLang="ko-KR" sz="1600" b="1" spc="-80">
                <a:solidFill>
                  <a:srgbClr val="004C86"/>
                </a:solidFill>
              </a:rPr>
              <a:t>2</a:t>
            </a:r>
            <a:endParaRPr lang="ko-KR" altLang="en-US" sz="1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18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DAC2-2702-0CCB-9336-F8889C5A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04CE77-0BD5-653D-9BD4-9503CDA5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60" y="1926620"/>
            <a:ext cx="3766941" cy="1654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A521A2-02BB-C973-C935-25DBC672250D}"/>
              </a:ext>
            </a:extLst>
          </p:cNvPr>
          <p:cNvSpPr txBox="1"/>
          <p:nvPr/>
        </p:nvSpPr>
        <p:spPr>
          <a:xfrm>
            <a:off x="318260" y="1472344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BUS18 BUS32</a:t>
            </a:r>
            <a:endParaRPr lang="ko-KR" altLang="en-US" spc="-8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AFA33-4431-A9C3-70DF-DE38276896EC}"/>
              </a:ext>
            </a:extLst>
          </p:cNvPr>
          <p:cNvSpPr txBox="1"/>
          <p:nvPr/>
        </p:nvSpPr>
        <p:spPr>
          <a:xfrm>
            <a:off x="6012160" y="256731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$3607</a:t>
            </a:r>
          </a:p>
        </p:txBody>
      </p:sp>
      <p:sp>
        <p:nvSpPr>
          <p:cNvPr id="9" name="오른쪽 화살표[R] 12">
            <a:extLst>
              <a:ext uri="{FF2B5EF4-FFF2-40B4-BE49-F238E27FC236}">
                <a16:creationId xmlns:a16="http://schemas.microsoft.com/office/drawing/2014/main" id="{8045A18C-9FA5-9CD7-66A6-F7A3F95D660B}"/>
              </a:ext>
            </a:extLst>
          </p:cNvPr>
          <p:cNvSpPr/>
          <p:nvPr/>
        </p:nvSpPr>
        <p:spPr>
          <a:xfrm>
            <a:off x="4399907" y="2661003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E0C4C5-1C0C-0630-B078-D776C5523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5" y="4156474"/>
            <a:ext cx="3689666" cy="16729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0472D0-31ED-BE1B-FB9A-6B1928255AEB}"/>
              </a:ext>
            </a:extLst>
          </p:cNvPr>
          <p:cNvSpPr txBox="1"/>
          <p:nvPr/>
        </p:nvSpPr>
        <p:spPr>
          <a:xfrm>
            <a:off x="318260" y="3787141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BUS18 BUS33</a:t>
            </a:r>
            <a:endParaRPr lang="ko-KR" altLang="en-US" spc="-8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61EE06-A53A-56C1-7744-481B34E71439}"/>
              </a:ext>
            </a:extLst>
          </p:cNvPr>
          <p:cNvSpPr txBox="1"/>
          <p:nvPr/>
        </p:nvSpPr>
        <p:spPr>
          <a:xfrm>
            <a:off x="6012160" y="48082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$3733.7</a:t>
            </a:r>
            <a:endParaRPr lang="ko-KR" altLang="en-US" spc="-80"/>
          </a:p>
        </p:txBody>
      </p:sp>
      <p:sp>
        <p:nvSpPr>
          <p:cNvPr id="16" name="오른쪽 화살표[R] 12">
            <a:extLst>
              <a:ext uri="{FF2B5EF4-FFF2-40B4-BE49-F238E27FC236}">
                <a16:creationId xmlns:a16="http://schemas.microsoft.com/office/drawing/2014/main" id="{C4D65631-F068-9485-2A39-61F2101AB00F}"/>
              </a:ext>
            </a:extLst>
          </p:cNvPr>
          <p:cNvSpPr/>
          <p:nvPr/>
        </p:nvSpPr>
        <p:spPr>
          <a:xfrm>
            <a:off x="4399908" y="4901953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69236-D12E-CD47-31C3-996B3E758A59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spc="-80">
                <a:solidFill>
                  <a:srgbClr val="004C86"/>
                </a:solidFill>
              </a:rPr>
              <a:t>BUS17 BUS18 BUS32 BUS33 </a:t>
            </a:r>
            <a:r>
              <a:rPr lang="ko-KR" altLang="en-US" sz="2600" b="1" spc="-80">
                <a:solidFill>
                  <a:srgbClr val="004C86"/>
                </a:solidFill>
              </a:rPr>
              <a:t>중</a:t>
            </a:r>
            <a:r>
              <a:rPr lang="en-US" altLang="ko-KR" sz="2600" b="1" spc="-80">
                <a:solidFill>
                  <a:srgbClr val="004C86"/>
                </a:solidFill>
              </a:rPr>
              <a:t> 3</a:t>
            </a:r>
            <a:r>
              <a:rPr lang="ko-KR" altLang="en-US" sz="2600" b="1" spc="-80">
                <a:solidFill>
                  <a:srgbClr val="004C86"/>
                </a:solidFill>
              </a:rPr>
              <a:t>개 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r>
              <a:rPr lang="en-US" altLang="ko-KR" sz="2600" b="1" spc="-80">
                <a:solidFill>
                  <a:srgbClr val="004C86"/>
                </a:solidFill>
              </a:rPr>
              <a:t>C</a:t>
            </a:r>
            <a:r>
              <a:rPr lang="en-US" altLang="ko-KR" sz="1600" b="1" spc="-80">
                <a:solidFill>
                  <a:srgbClr val="004C86"/>
                </a:solidFill>
              </a:rPr>
              <a:t>3</a:t>
            </a:r>
            <a:endParaRPr lang="ko-KR" altLang="en-US" sz="1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014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7369-1BDB-F0A2-AF93-10458C42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5BBC3E1-3A49-FFC7-CBBE-9F164447D122}"/>
              </a:ext>
            </a:extLst>
          </p:cNvPr>
          <p:cNvSpPr txBox="1"/>
          <p:nvPr/>
        </p:nvSpPr>
        <p:spPr>
          <a:xfrm>
            <a:off x="455894" y="3808194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BUS18 BUS32 BUS33</a:t>
            </a:r>
            <a:endParaRPr lang="ko-KR" altLang="en-US" spc="-80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1F118238-E57A-ADCC-E512-1FF37FBD82E2}"/>
              </a:ext>
            </a:extLst>
          </p:cNvPr>
          <p:cNvSpPr/>
          <p:nvPr/>
        </p:nvSpPr>
        <p:spPr>
          <a:xfrm>
            <a:off x="4189105" y="5111814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5414F2-0844-7460-2979-9EF05F27410B}"/>
              </a:ext>
            </a:extLst>
          </p:cNvPr>
          <p:cNvSpPr txBox="1"/>
          <p:nvPr/>
        </p:nvSpPr>
        <p:spPr>
          <a:xfrm>
            <a:off x="5597142" y="501812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$3554.50</a:t>
            </a:r>
            <a:endParaRPr lang="ko-KR" altLang="en-US" spc="-8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235863-D963-A7D8-B417-FD00B31BF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94" y="4177526"/>
            <a:ext cx="3673158" cy="17003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52751C-76D7-AF8C-E349-2E3E819EBF5A}"/>
              </a:ext>
            </a:extLst>
          </p:cNvPr>
          <p:cNvSpPr txBox="1"/>
          <p:nvPr/>
        </p:nvSpPr>
        <p:spPr>
          <a:xfrm>
            <a:off x="455894" y="136922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BUS32 BUS33</a:t>
            </a:r>
            <a:endParaRPr lang="ko-KR" altLang="en-US" spc="-8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550982-5266-8FB9-5DE3-74F96E88D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49" y="1864926"/>
            <a:ext cx="3558848" cy="1943268"/>
          </a:xfrm>
          <a:prstGeom prst="rect">
            <a:avLst/>
          </a:prstGeom>
        </p:spPr>
      </p:pic>
      <p:sp>
        <p:nvSpPr>
          <p:cNvPr id="18" name="오른쪽 화살표[R] 12">
            <a:extLst>
              <a:ext uri="{FF2B5EF4-FFF2-40B4-BE49-F238E27FC236}">
                <a16:creationId xmlns:a16="http://schemas.microsoft.com/office/drawing/2014/main" id="{1CC1437D-8E83-BD72-52A0-29F053835E1C}"/>
              </a:ext>
            </a:extLst>
          </p:cNvPr>
          <p:cNvSpPr/>
          <p:nvPr/>
        </p:nvSpPr>
        <p:spPr>
          <a:xfrm>
            <a:off x="4129052" y="2662346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F3B66-5525-4B58-00FA-A903E0D84D95}"/>
              </a:ext>
            </a:extLst>
          </p:cNvPr>
          <p:cNvSpPr txBox="1"/>
          <p:nvPr/>
        </p:nvSpPr>
        <p:spPr>
          <a:xfrm>
            <a:off x="5421882" y="256865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>
                <a:highlight>
                  <a:srgbClr val="FFFF00"/>
                </a:highlight>
              </a:rPr>
              <a:t>$3539.50</a:t>
            </a:r>
            <a:endParaRPr lang="ko-KR" altLang="en-US" spc="-8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E2C18-9C99-F1D6-7072-C4A6A2629FE7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spc="-80">
                <a:solidFill>
                  <a:srgbClr val="004C86"/>
                </a:solidFill>
              </a:rPr>
              <a:t>BUS17 BUS18 BUS32 BUS33 </a:t>
            </a:r>
            <a:r>
              <a:rPr lang="ko-KR" altLang="en-US" sz="2600" b="1" spc="-80">
                <a:solidFill>
                  <a:srgbClr val="004C86"/>
                </a:solidFill>
              </a:rPr>
              <a:t>중</a:t>
            </a:r>
            <a:r>
              <a:rPr lang="en-US" altLang="ko-KR" sz="2600" b="1" spc="-80">
                <a:solidFill>
                  <a:srgbClr val="004C86"/>
                </a:solidFill>
              </a:rPr>
              <a:t> 3</a:t>
            </a:r>
            <a:r>
              <a:rPr lang="ko-KR" altLang="en-US" sz="2600" b="1" spc="-80">
                <a:solidFill>
                  <a:srgbClr val="004C86"/>
                </a:solidFill>
              </a:rPr>
              <a:t>개 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r>
              <a:rPr lang="en-US" altLang="ko-KR" sz="2600" b="1" spc="-80">
                <a:solidFill>
                  <a:srgbClr val="004C86"/>
                </a:solidFill>
              </a:rPr>
              <a:t>C</a:t>
            </a:r>
            <a:r>
              <a:rPr lang="en-US" altLang="ko-KR" sz="1600" b="1" spc="-80">
                <a:solidFill>
                  <a:srgbClr val="004C86"/>
                </a:solidFill>
              </a:rPr>
              <a:t>3</a:t>
            </a:r>
            <a:endParaRPr lang="ko-KR" altLang="en-US" sz="1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148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2DC25-DE93-708A-E6D3-71C744A9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C3FE4F-8B90-8501-4C45-8192B6EC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6" y="2453664"/>
            <a:ext cx="5178908" cy="2347407"/>
          </a:xfrm>
          <a:prstGeom prst="rect">
            <a:avLst/>
          </a:prstGeom>
        </p:spPr>
      </p:pic>
      <p:sp>
        <p:nvSpPr>
          <p:cNvPr id="4" name="오른쪽 화살표[R] 12">
            <a:extLst>
              <a:ext uri="{FF2B5EF4-FFF2-40B4-BE49-F238E27FC236}">
                <a16:creationId xmlns:a16="http://schemas.microsoft.com/office/drawing/2014/main" id="{DE46B753-95AD-990A-50E7-D70C33EF9115}"/>
              </a:ext>
            </a:extLst>
          </p:cNvPr>
          <p:cNvSpPr/>
          <p:nvPr/>
        </p:nvSpPr>
        <p:spPr>
          <a:xfrm>
            <a:off x="5630074" y="3618686"/>
            <a:ext cx="927099" cy="181947"/>
          </a:xfrm>
          <a:prstGeom prst="rightArrow">
            <a:avLst>
              <a:gd name="adj1" fmla="val 50000"/>
              <a:gd name="adj2" fmla="val 68308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76F59-6B81-4551-05AB-F38087896E25}"/>
              </a:ext>
            </a:extLst>
          </p:cNvPr>
          <p:cNvSpPr txBox="1"/>
          <p:nvPr/>
        </p:nvSpPr>
        <p:spPr>
          <a:xfrm>
            <a:off x="561600" y="208433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BUS17 BUS18 BUS32 BUS33</a:t>
            </a:r>
            <a:endParaRPr lang="ko-KR" altLang="en-US" spc="-8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4ECE2-1726-CA9A-313A-6F5852A49E57}"/>
              </a:ext>
            </a:extLst>
          </p:cNvPr>
          <p:cNvSpPr txBox="1"/>
          <p:nvPr/>
        </p:nvSpPr>
        <p:spPr>
          <a:xfrm>
            <a:off x="6804248" y="352499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pc="-80"/>
              <a:t>$3637</a:t>
            </a:r>
            <a:endParaRPr lang="ko-KR" altLang="en-US" spc="-8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3E8CAA-E8CB-38F0-A7EA-88C793E169A8}"/>
              </a:ext>
            </a:extLst>
          </p:cNvPr>
          <p:cNvSpPr txBox="1"/>
          <p:nvPr/>
        </p:nvSpPr>
        <p:spPr>
          <a:xfrm>
            <a:off x="561600" y="476674"/>
            <a:ext cx="80428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spc="-80">
                <a:solidFill>
                  <a:srgbClr val="004C86"/>
                </a:solidFill>
              </a:rPr>
              <a:t>BUS17 BUS18 BUS32 BUS33 </a:t>
            </a:r>
            <a:r>
              <a:rPr lang="ko-KR" altLang="en-US" sz="2600" b="1" spc="-80">
                <a:solidFill>
                  <a:srgbClr val="004C86"/>
                </a:solidFill>
              </a:rPr>
              <a:t>중</a:t>
            </a:r>
            <a:r>
              <a:rPr lang="en-US" altLang="ko-KR" sz="2600" b="1" spc="-80">
                <a:solidFill>
                  <a:srgbClr val="004C86"/>
                </a:solidFill>
              </a:rPr>
              <a:t> 4</a:t>
            </a:r>
            <a:r>
              <a:rPr lang="ko-KR" altLang="en-US" sz="2600" b="1" spc="-80">
                <a:solidFill>
                  <a:srgbClr val="004C86"/>
                </a:solidFill>
              </a:rPr>
              <a:t>개 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r>
              <a:rPr lang="en-US" altLang="ko-KR" sz="2600" b="1" spc="-80">
                <a:solidFill>
                  <a:srgbClr val="004C86"/>
                </a:solidFill>
              </a:rPr>
              <a:t>C</a:t>
            </a:r>
            <a:r>
              <a:rPr lang="en-US" altLang="ko-KR" sz="1600" b="1" spc="-80">
                <a:solidFill>
                  <a:srgbClr val="004C86"/>
                </a:solidFill>
              </a:rPr>
              <a:t>4</a:t>
            </a:r>
            <a:endParaRPr lang="ko-KR" altLang="en-US" sz="1600" b="1" spc="-80">
              <a:solidFill>
                <a:srgbClr val="00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335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4DD99-AC5D-2D22-A735-79D534B4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F8A96A-9283-D7F7-EF01-65153F8F29B0}"/>
              </a:ext>
            </a:extLst>
          </p:cNvPr>
          <p:cNvSpPr txBox="1"/>
          <p:nvPr/>
        </p:nvSpPr>
        <p:spPr>
          <a:xfrm>
            <a:off x="611560" y="2001614"/>
            <a:ext cx="536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pc="-5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8E896-1212-DBD3-5E50-BF5C94C76F07}"/>
              </a:ext>
            </a:extLst>
          </p:cNvPr>
          <p:cNvSpPr txBox="1"/>
          <p:nvPr/>
        </p:nvSpPr>
        <p:spPr>
          <a:xfrm>
            <a:off x="144924" y="2924944"/>
            <a:ext cx="3161386" cy="538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4000"/>
              </a:lnSpc>
            </a:pPr>
            <a:r>
              <a:rPr lang="en-US" altLang="ko-KR" sz="2100" b="1" spc="-120">
                <a:solidFill>
                  <a:schemeClr val="bg1"/>
                </a:solidFill>
                <a:latin typeface="Arita-dotum4.0(OTF)-SemiBold" panose="02020603020101020101" pitchFamily="18" charset="-127"/>
                <a:ea typeface="Arita-dotum4.0(OTF)-SemiBold" panose="02020603020101020101" pitchFamily="18" charset="-127"/>
              </a:rPr>
              <a:t>MATLAB, Python</a:t>
            </a:r>
            <a:r>
              <a:rPr lang="ko-KR" altLang="en-US" sz="2100" b="1" spc="-120">
                <a:solidFill>
                  <a:schemeClr val="bg1"/>
                </a:solidFill>
                <a:latin typeface="Arita-dotum4.0(OTF)-SemiBold" panose="02020603020101020101" pitchFamily="18" charset="-127"/>
                <a:ea typeface="Arita-dotum4.0(OTF)-SemiBold" panose="02020603020101020101" pitchFamily="18" charset="-127"/>
              </a:rPr>
              <a:t> </a:t>
            </a:r>
            <a:r>
              <a:rPr lang="en-US" altLang="ko-KR" sz="2100" b="1" spc="-120">
                <a:solidFill>
                  <a:schemeClr val="bg1"/>
                </a:solidFill>
                <a:latin typeface="Arita-dotum4.0(OTF)-SemiBold" panose="02020603020101020101" pitchFamily="18" charset="-127"/>
                <a:ea typeface="Arita-dotum4.0(OTF)-SemiBold" panose="02020603020101020101" pitchFamily="18" charset="-127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094484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96EEA-0EEE-8256-B8C3-A82440CB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56D113-AA96-7F6A-20B1-9A5B74E00610}"/>
              </a:ext>
            </a:extLst>
          </p:cNvPr>
          <p:cNvSpPr txBox="1"/>
          <p:nvPr/>
        </p:nvSpPr>
        <p:spPr>
          <a:xfrm>
            <a:off x="561600" y="476674"/>
            <a:ext cx="2699840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  <a:ea typeface="맑은 고딕"/>
              </a:rPr>
              <a:t>프로젝트 과정 </a:t>
            </a:r>
          </a:p>
        </p:txBody>
      </p:sp>
      <p:sp>
        <p:nvSpPr>
          <p:cNvPr id="8" name="왼쪽/오른쪽/위쪽 화살표[L] 7">
            <a:extLst>
              <a:ext uri="{FF2B5EF4-FFF2-40B4-BE49-F238E27FC236}">
                <a16:creationId xmlns:a16="http://schemas.microsoft.com/office/drawing/2014/main" id="{8E45A603-9FF9-F18E-A2EF-BBA8822411EF}"/>
              </a:ext>
            </a:extLst>
          </p:cNvPr>
          <p:cNvSpPr/>
          <p:nvPr/>
        </p:nvSpPr>
        <p:spPr>
          <a:xfrm rot="10800000">
            <a:off x="2207488" y="2212296"/>
            <a:ext cx="4729020" cy="1514388"/>
          </a:xfrm>
          <a:prstGeom prst="leftRightUpArrow">
            <a:avLst>
              <a:gd name="adj1" fmla="val 2189"/>
              <a:gd name="adj2" fmla="val 3943"/>
              <a:gd name="adj3" fmla="val 4382"/>
            </a:avLst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ko-Kore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B2AE673-17A1-870D-05AC-49CCBB187DBC}"/>
              </a:ext>
            </a:extLst>
          </p:cNvPr>
          <p:cNvSpPr/>
          <p:nvPr/>
        </p:nvSpPr>
        <p:spPr>
          <a:xfrm>
            <a:off x="3342495" y="3888510"/>
            <a:ext cx="2459006" cy="2459006"/>
          </a:xfrm>
          <a:prstGeom prst="ellipse">
            <a:avLst/>
          </a:prstGeom>
          <a:solidFill>
            <a:srgbClr val="004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400" b="1">
                <a:ea typeface="맑은 고딕"/>
              </a:rPr>
              <a:t>최적 용량</a:t>
            </a:r>
            <a:endParaRPr lang="en-US" altLang="ko-KR" sz="2400" b="1">
              <a:ea typeface="맑은 고딕"/>
            </a:endParaRPr>
          </a:p>
          <a:p>
            <a:pPr algn="ctr"/>
            <a:r>
              <a:rPr lang="ko-KR" altLang="en-US" sz="2400" b="1">
                <a:ea typeface="맑은 고딕"/>
              </a:rPr>
              <a:t>및 </a:t>
            </a:r>
            <a:endParaRPr lang="en-US" altLang="ko-KR" sz="2400" b="1">
              <a:ea typeface="맑은 고딕"/>
            </a:endParaRPr>
          </a:p>
          <a:p>
            <a:pPr algn="ctr"/>
            <a:r>
              <a:rPr lang="ko-KR" altLang="en-US" sz="2400" b="1">
                <a:ea typeface="맑은 고딕"/>
              </a:rPr>
              <a:t>위치 선정</a:t>
            </a:r>
          </a:p>
        </p:txBody>
      </p:sp>
      <p:pic>
        <p:nvPicPr>
          <p:cNvPr id="1026" name="Picture 2" descr="Python 로고 - 소셜 미디어 및 로고 아이콘">
            <a:extLst>
              <a:ext uri="{FF2B5EF4-FFF2-40B4-BE49-F238E27FC236}">
                <a16:creationId xmlns:a16="http://schemas.microsoft.com/office/drawing/2014/main" id="{1C007062-1F00-2181-F375-10AB5B711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23" y="1340038"/>
            <a:ext cx="2548472" cy="25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매트랩 - 위키백과, 우리 모두의 백과사전">
            <a:extLst>
              <a:ext uri="{FF2B5EF4-FFF2-40B4-BE49-F238E27FC236}">
                <a16:creationId xmlns:a16="http://schemas.microsoft.com/office/drawing/2014/main" id="{07016AB7-853B-553C-D59C-0B39A42E5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718" y="1191874"/>
            <a:ext cx="31750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044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FE6EF-721B-1793-E9A7-F0E8B24B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DB2CC9-5168-8C9F-0088-2FCC416DD145}"/>
              </a:ext>
            </a:extLst>
          </p:cNvPr>
          <p:cNvSpPr txBox="1"/>
          <p:nvPr/>
        </p:nvSpPr>
        <p:spPr>
          <a:xfrm>
            <a:off x="561600" y="476674"/>
            <a:ext cx="2699840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  <a:ea typeface="맑은 고딕"/>
              </a:rPr>
              <a:t>결론</a:t>
            </a:r>
          </a:p>
        </p:txBody>
      </p:sp>
      <p:sp>
        <p:nvSpPr>
          <p:cNvPr id="5" name="사각형: 둥근 모서리 2">
            <a:extLst>
              <a:ext uri="{FF2B5EF4-FFF2-40B4-BE49-F238E27FC236}">
                <a16:creationId xmlns:a16="http://schemas.microsoft.com/office/drawing/2014/main" id="{6D17B63F-B49B-CCED-48B3-E13C70E59264}"/>
              </a:ext>
            </a:extLst>
          </p:cNvPr>
          <p:cNvSpPr/>
          <p:nvPr/>
        </p:nvSpPr>
        <p:spPr>
          <a:xfrm>
            <a:off x="718218" y="2765700"/>
            <a:ext cx="7707563" cy="3358010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>
                <a:ea typeface="+mn-lt"/>
                <a:cs typeface="+mn-lt"/>
              </a:rPr>
              <a:t>&lt;우리가 도출한 최적의 </a:t>
            </a:r>
            <a:r>
              <a:rPr lang="ko-KR" altLang="en-US" err="1">
                <a:ea typeface="+mn-lt"/>
                <a:cs typeface="+mn-lt"/>
              </a:rPr>
              <a:t>커패시터</a:t>
            </a:r>
            <a:r>
              <a:rPr lang="ko-KR" altLang="en-US">
                <a:ea typeface="+mn-lt"/>
                <a:cs typeface="+mn-lt"/>
              </a:rPr>
              <a:t> 위치와 용량&gt;</a:t>
            </a:r>
            <a:endParaRPr lang="en-US" altLang="ko-KR">
              <a:ea typeface="+mn-lt"/>
              <a:cs typeface="+mn-lt"/>
            </a:endParaRPr>
          </a:p>
          <a:p>
            <a:pPr algn="ctr"/>
            <a:endParaRPr lang="en-US" altLang="ko-KR">
              <a:ea typeface="+mn-lt"/>
              <a:cs typeface="+mn-lt"/>
            </a:endParaRPr>
          </a:p>
          <a:p>
            <a:pPr algn="ctr"/>
            <a:r>
              <a:rPr lang="en-US" altLang="ko-KR" b="1">
                <a:ea typeface="+mn-lt"/>
                <a:cs typeface="+mn-lt"/>
              </a:rPr>
              <a:t>17</a:t>
            </a:r>
            <a:r>
              <a:rPr lang="ko-KR" altLang="en-US" b="1" err="1">
                <a:ea typeface="+mn-lt"/>
                <a:cs typeface="+mn-lt"/>
              </a:rPr>
              <a:t>번BUS</a:t>
            </a:r>
            <a:r>
              <a:rPr lang="en-US" altLang="ko-KR" b="1">
                <a:ea typeface="+mn-lt"/>
                <a:cs typeface="+mn-lt"/>
              </a:rPr>
              <a:t>: 2600kvar</a:t>
            </a:r>
            <a:endParaRPr lang="en-US" b="1"/>
          </a:p>
          <a:p>
            <a:pPr algn="ctr"/>
            <a:r>
              <a:rPr lang="en-US" altLang="ko-KR" b="1">
                <a:ea typeface="+mn-lt"/>
                <a:cs typeface="+mn-lt"/>
              </a:rPr>
              <a:t>32번BUS:</a:t>
            </a:r>
            <a:r>
              <a:rPr lang="ko-KR" altLang="en-US" b="1">
                <a:ea typeface="+mn-lt"/>
                <a:cs typeface="+mn-lt"/>
              </a:rPr>
              <a:t> </a:t>
            </a:r>
            <a:r>
              <a:rPr lang="en-US" altLang="ko-KR" b="1">
                <a:ea typeface="+mn-lt"/>
                <a:cs typeface="+mn-lt"/>
              </a:rPr>
              <a:t>1200kvar</a:t>
            </a:r>
            <a:endParaRPr lang="ko-KR" altLang="en-US" b="1">
              <a:ea typeface="맑은 고딕"/>
            </a:endParaRPr>
          </a:p>
          <a:p>
            <a:pPr algn="ctr"/>
            <a:r>
              <a:rPr lang="en-US" b="1">
                <a:latin typeface="Malgun Gothic"/>
                <a:ea typeface="Malgun Gothic"/>
              </a:rPr>
              <a:t>33</a:t>
            </a:r>
            <a:r>
              <a:rPr lang="ko-KR" altLang="en-US" b="1" err="1">
                <a:latin typeface="Malgun Gothic"/>
                <a:ea typeface="Malgun Gothic"/>
              </a:rPr>
              <a:t>번BUS</a:t>
            </a:r>
            <a:r>
              <a:rPr lang="ko-KR" altLang="en-US" b="1">
                <a:latin typeface="Malgun Gothic"/>
                <a:ea typeface="Malgun Gothic"/>
              </a:rPr>
              <a:t>: 1200kvar</a:t>
            </a:r>
            <a:endParaRPr lang="en-US" b="1"/>
          </a:p>
          <a:p>
            <a:pPr algn="ctr"/>
            <a:endParaRPr lang="ko-KR" altLang="en-US">
              <a:latin typeface="Malgun Gothic"/>
              <a:ea typeface="Malgun Gothic"/>
            </a:endParaRPr>
          </a:p>
          <a:p>
            <a:pPr algn="ctr"/>
            <a:r>
              <a:rPr lang="ko-KR" altLang="en-US">
                <a:ea typeface="+mn-lt"/>
                <a:cs typeface="+mn-lt"/>
              </a:rPr>
              <a:t>이 과정에서 선택한 </a:t>
            </a:r>
            <a:r>
              <a:rPr lang="ko-KR" altLang="en-US" err="1">
                <a:ea typeface="+mn-lt"/>
                <a:cs typeface="+mn-lt"/>
              </a:rPr>
              <a:t>BUS들은</a:t>
            </a:r>
            <a:r>
              <a:rPr lang="ko-KR" altLang="en-US">
                <a:ea typeface="+mn-lt"/>
                <a:cs typeface="+mn-lt"/>
              </a:rPr>
              <a:t> 전압민감도 그래프의 결과와 완벽하게 일치하지 않지만,</a:t>
            </a:r>
            <a:r>
              <a:rPr lang="ko-KR" altLang="en-US" b="1">
                <a:ea typeface="+mn-lt"/>
                <a:cs typeface="+mn-lt"/>
              </a:rPr>
              <a:t> 전압 보상 효과와 설치 비용을 종합적으로 고려한  결과</a:t>
            </a:r>
            <a:r>
              <a:rPr lang="ko-KR">
                <a:ea typeface="+mn-lt"/>
                <a:cs typeface="+mn-lt"/>
              </a:rPr>
              <a:t>로, </a:t>
            </a:r>
            <a:r>
              <a:rPr lang="ko-KR" b="1">
                <a:ea typeface="+mn-lt"/>
                <a:cs typeface="+mn-lt"/>
              </a:rPr>
              <a:t>경제성과 기술적 타당성을 모두 만족하는 최적의 해</a:t>
            </a:r>
            <a:r>
              <a:rPr lang="ko-KR">
                <a:ea typeface="+mn-lt"/>
                <a:cs typeface="+mn-lt"/>
              </a:rPr>
              <a:t>로</a:t>
            </a:r>
            <a:endParaRPr lang="ko-KR" altLang="en-US">
              <a:ea typeface="맑은 고딕" panose="020B0503020000020004" pitchFamily="34" charset="-127"/>
              <a:cs typeface="+mn-lt"/>
            </a:endParaRPr>
          </a:p>
          <a:p>
            <a:pPr algn="ctr"/>
            <a:r>
              <a:rPr lang="ko-KR" altLang="en-US">
                <a:ea typeface="+mn-lt"/>
                <a:cs typeface="+mn-lt"/>
              </a:rPr>
              <a:t> </a:t>
            </a:r>
            <a:r>
              <a:rPr lang="ko-KR">
                <a:ea typeface="+mn-lt"/>
                <a:cs typeface="+mn-lt"/>
              </a:rPr>
              <a:t>판단된다.</a:t>
            </a:r>
            <a:endParaRPr lang="ko-KR">
              <a:ea typeface="맑은 고딕"/>
            </a:endParaRPr>
          </a:p>
          <a:p>
            <a:pPr algn="ctr"/>
            <a:endParaRPr lang="ko-KR" altLang="en-US">
              <a:latin typeface="맑은 고딕"/>
              <a:ea typeface="맑은 고딕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D14EEE6-47CB-88F6-DDA5-5F0EAF579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710" y="-1"/>
            <a:ext cx="4876800" cy="267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도넛[D] 2">
            <a:extLst>
              <a:ext uri="{FF2B5EF4-FFF2-40B4-BE49-F238E27FC236}">
                <a16:creationId xmlns:a16="http://schemas.microsoft.com/office/drawing/2014/main" id="{0F85E489-C813-7599-CFEA-CDE77E410CE6}"/>
              </a:ext>
            </a:extLst>
          </p:cNvPr>
          <p:cNvSpPr/>
          <p:nvPr/>
        </p:nvSpPr>
        <p:spPr>
          <a:xfrm>
            <a:off x="7721602" y="411019"/>
            <a:ext cx="323271" cy="323271"/>
          </a:xfrm>
          <a:prstGeom prst="donut">
            <a:avLst>
              <a:gd name="adj" fmla="val 109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4" name="도넛[D] 3">
            <a:extLst>
              <a:ext uri="{FF2B5EF4-FFF2-40B4-BE49-F238E27FC236}">
                <a16:creationId xmlns:a16="http://schemas.microsoft.com/office/drawing/2014/main" id="{CB61F1AE-A3C6-1D3F-5E8F-347B6D798C6F}"/>
              </a:ext>
            </a:extLst>
          </p:cNvPr>
          <p:cNvSpPr/>
          <p:nvPr/>
        </p:nvSpPr>
        <p:spPr>
          <a:xfrm>
            <a:off x="7439894" y="411019"/>
            <a:ext cx="323271" cy="323271"/>
          </a:xfrm>
          <a:prstGeom prst="donut">
            <a:avLst>
              <a:gd name="adj" fmla="val 109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7" name="도넛[D] 6">
            <a:extLst>
              <a:ext uri="{FF2B5EF4-FFF2-40B4-BE49-F238E27FC236}">
                <a16:creationId xmlns:a16="http://schemas.microsoft.com/office/drawing/2014/main" id="{B510F202-03EF-A241-9127-D2D888F89531}"/>
              </a:ext>
            </a:extLst>
          </p:cNvPr>
          <p:cNvSpPr/>
          <p:nvPr/>
        </p:nvSpPr>
        <p:spPr>
          <a:xfrm>
            <a:off x="8264145" y="1089892"/>
            <a:ext cx="323271" cy="323271"/>
          </a:xfrm>
          <a:prstGeom prst="donut">
            <a:avLst>
              <a:gd name="adj" fmla="val 109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578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E4784-BEB3-00C2-B737-86E51EB1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4687F2-3DD9-2B19-C245-4AE7D8D4CB2A}"/>
              </a:ext>
            </a:extLst>
          </p:cNvPr>
          <p:cNvSpPr txBox="1"/>
          <p:nvPr/>
        </p:nvSpPr>
        <p:spPr>
          <a:xfrm>
            <a:off x="561600" y="476674"/>
            <a:ext cx="2699840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600" b="1" spc="-80">
                <a:solidFill>
                  <a:srgbClr val="004C86"/>
                </a:solidFill>
                <a:ea typeface="맑은 고딕"/>
              </a:rPr>
              <a:t>결론 </a:t>
            </a:r>
          </a:p>
        </p:txBody>
      </p:sp>
      <p:sp>
        <p:nvSpPr>
          <p:cNvPr id="2" name="사각형: 둥근 모서리 2">
            <a:extLst>
              <a:ext uri="{FF2B5EF4-FFF2-40B4-BE49-F238E27FC236}">
                <a16:creationId xmlns:a16="http://schemas.microsoft.com/office/drawing/2014/main" id="{F04134AC-89BC-1D59-C174-96B63BE44DBC}"/>
              </a:ext>
            </a:extLst>
          </p:cNvPr>
          <p:cNvSpPr/>
          <p:nvPr/>
        </p:nvSpPr>
        <p:spPr>
          <a:xfrm>
            <a:off x="466342" y="1587424"/>
            <a:ext cx="8209132" cy="3683152"/>
          </a:xfrm>
          <a:prstGeom prst="roundRect">
            <a:avLst/>
          </a:prstGeom>
          <a:solidFill>
            <a:srgbClr val="004C8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Calibri"/>
              <a:buChar char="-"/>
            </a:pPr>
            <a:endParaRPr lang="ko-KR" altLang="en-US">
              <a:ea typeface="+mn-lt"/>
              <a:cs typeface="+mn-lt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>
                <a:ea typeface="+mn-lt"/>
                <a:cs typeface="+mn-lt"/>
              </a:rPr>
              <a:t>본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프로젝트는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Python</a:t>
            </a:r>
            <a:r>
              <a:rPr lang="ko-KR" altLang="en-US">
                <a:ea typeface="+mn-lt"/>
                <a:cs typeface="+mn-lt"/>
              </a:rPr>
              <a:t>과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MATLAB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기반의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최적화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기법</a:t>
            </a:r>
            <a:r>
              <a:rPr lang="en-US">
                <a:ea typeface="+mn-lt"/>
                <a:cs typeface="+mn-lt"/>
              </a:rPr>
              <a:t>(DE, GA)</a:t>
            </a:r>
            <a:r>
              <a:rPr lang="ko-KR" altLang="en-US">
                <a:ea typeface="+mn-lt"/>
                <a:cs typeface="+mn-lt"/>
              </a:rPr>
              <a:t>을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활용해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 err="1">
                <a:ea typeface="+mn-lt"/>
                <a:cs typeface="+mn-lt"/>
              </a:rPr>
              <a:t>커패시터의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설치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위치와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용량에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대한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최적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해를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도출하였다</a:t>
            </a:r>
            <a:r>
              <a:rPr lang="en-US">
                <a:ea typeface="+mn-lt"/>
                <a:cs typeface="+mn-lt"/>
              </a:rPr>
              <a:t>.</a:t>
            </a:r>
            <a:endParaRPr lang="ko-KR">
              <a:ea typeface="+mn-lt"/>
              <a:cs typeface="+mn-lt"/>
            </a:endParaRPr>
          </a:p>
          <a:p>
            <a:pPr marL="285750" indent="-285750" algn="ctr">
              <a:buFont typeface="Calibri"/>
              <a:buChar char="-"/>
            </a:pPr>
            <a:endParaRPr lang="en-US" altLang="ko-Kore-KR">
              <a:ea typeface="+mn-lt"/>
              <a:cs typeface="+mn-lt"/>
            </a:endParaRPr>
          </a:p>
          <a:p>
            <a:pPr marL="285750" indent="-285750" algn="ctr">
              <a:buFont typeface="Calibri"/>
              <a:buChar char="-"/>
            </a:pPr>
            <a:endParaRPr lang="en-US" altLang="ko-KR">
              <a:ea typeface="+mn-lt"/>
              <a:cs typeface="+mn-lt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>
                <a:ea typeface="+mn-lt"/>
                <a:cs typeface="+mn-lt"/>
              </a:rPr>
              <a:t>특히</a:t>
            </a:r>
            <a:r>
              <a:rPr lang="en-US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전압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안정도와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설치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비용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간의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균형을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동시에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달성함으로써</a:t>
            </a:r>
            <a:r>
              <a:rPr lang="en-US" altLang="ko-KR">
                <a:ea typeface="+mn-lt"/>
                <a:cs typeface="+mn-lt"/>
              </a:rPr>
              <a:t>, </a:t>
            </a:r>
            <a:r>
              <a:rPr lang="ko-KR" altLang="en-US" b="1">
                <a:ea typeface="+mn-lt"/>
                <a:cs typeface="+mn-lt"/>
              </a:rPr>
              <a:t>기술적</a:t>
            </a:r>
            <a:r>
              <a:rPr lang="en-US" altLang="ko-KR" b="1">
                <a:ea typeface="+mn-lt"/>
                <a:cs typeface="+mn-lt"/>
              </a:rPr>
              <a:t> </a:t>
            </a:r>
            <a:r>
              <a:rPr lang="ko-KR" altLang="en-US" b="1">
                <a:ea typeface="+mn-lt"/>
                <a:cs typeface="+mn-lt"/>
              </a:rPr>
              <a:t>효율성과</a:t>
            </a:r>
            <a:r>
              <a:rPr lang="en-US" altLang="ko-KR" b="1">
                <a:ea typeface="+mn-lt"/>
                <a:cs typeface="+mn-lt"/>
              </a:rPr>
              <a:t> </a:t>
            </a:r>
            <a:r>
              <a:rPr lang="ko-KR" altLang="en-US" b="1">
                <a:ea typeface="+mn-lt"/>
                <a:cs typeface="+mn-lt"/>
              </a:rPr>
              <a:t>경제적</a:t>
            </a:r>
            <a:r>
              <a:rPr lang="en-US" altLang="ko-KR" b="1">
                <a:ea typeface="+mn-lt"/>
                <a:cs typeface="+mn-lt"/>
              </a:rPr>
              <a:t> </a:t>
            </a:r>
            <a:r>
              <a:rPr lang="ko-KR" altLang="en-US" b="1">
                <a:ea typeface="+mn-lt"/>
                <a:cs typeface="+mn-lt"/>
              </a:rPr>
              <a:t>실현</a:t>
            </a:r>
            <a:r>
              <a:rPr lang="en-US" altLang="ko-KR" b="1">
                <a:ea typeface="+mn-lt"/>
                <a:cs typeface="+mn-lt"/>
              </a:rPr>
              <a:t> </a:t>
            </a:r>
            <a:r>
              <a:rPr lang="ko-KR" altLang="en-US" b="1">
                <a:ea typeface="+mn-lt"/>
                <a:cs typeface="+mn-lt"/>
              </a:rPr>
              <a:t>가능성</a:t>
            </a:r>
            <a:r>
              <a:rPr lang="ko-KR" altLang="en-US">
                <a:ea typeface="+mn-lt"/>
                <a:cs typeface="+mn-lt"/>
              </a:rPr>
              <a:t>을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모두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만족하는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결과를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얻었다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>
                <a:ea typeface="+mn-lt"/>
                <a:cs typeface="+mn-lt"/>
              </a:rPr>
            </a:br>
            <a:endParaRPr lang="en-US" altLang="ko-K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9367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4DD99-AC5D-2D22-A735-79D534B4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F8A96A-9283-D7F7-EF01-65153F8F29B0}"/>
              </a:ext>
            </a:extLst>
          </p:cNvPr>
          <p:cNvSpPr txBox="1"/>
          <p:nvPr/>
        </p:nvSpPr>
        <p:spPr>
          <a:xfrm>
            <a:off x="1925706" y="2767280"/>
            <a:ext cx="52925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 b="1" spc="-50">
                <a:solidFill>
                  <a:schemeClr val="bg1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89045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2073</Words>
  <Application>Microsoft Macintosh PowerPoint</Application>
  <PresentationFormat>화면 슬라이드 쇼(4:3)</PresentationFormat>
  <Paragraphs>453</Paragraphs>
  <Slides>43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1" baseType="lpstr">
      <vt:lpstr>Arial Unicode MS</vt:lpstr>
      <vt:lpstr>Arita-dotum4.0(OTF)-SemiBold</vt:lpstr>
      <vt:lpstr>Malgun Gothic</vt:lpstr>
      <vt:lpstr>Malgun Gothic</vt:lpstr>
      <vt:lpstr>Arial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안상호</cp:lastModifiedBy>
  <cp:revision>3</cp:revision>
  <dcterms:created xsi:type="dcterms:W3CDTF">2014-07-02T04:30:08Z</dcterms:created>
  <dcterms:modified xsi:type="dcterms:W3CDTF">2026-01-28T03:17:56Z</dcterms:modified>
</cp:coreProperties>
</file>